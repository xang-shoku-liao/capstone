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704088"/>
            <a:ext cx="109728" cy="43434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932688"/>
            <a:ext cx="48463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FINANZAS
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514600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8E5"/>
                </a:solidFill>
                <a:latin typeface="Aptos"/>
              </a:rPr>
              <a:t>Control simple de ingresos, gastos
y categorías personales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Aptos"/>
              </a:rPr>
              <a:t>Proyecto Capstone  |  Presentación de avance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376672"/>
            <a:ext cx="4297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6E8E5"/>
                </a:solidFill>
                <a:latin typeface="Aptos"/>
              </a:rPr>
              <a:t>Duración estimada: 15 minutos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777240"/>
            <a:ext cx="2534716" cy="4667097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90688" y="923544"/>
            <a:ext cx="2315260" cy="437448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18805" y="841247"/>
            <a:ext cx="659026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90688" y="923544"/>
            <a:ext cx="2315260" cy="1247241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67715" y="106838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2" b="1">
                <a:solidFill>
                  <a:srgbClr val="D6E8E5"/>
                </a:solidFill>
                <a:latin typeface="Aptos"/>
              </a:rPr>
              <a:t>Mis finanzas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5528" y="1341973"/>
            <a:ext cx="2025578" cy="63569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6229" y="1454627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02C39A"/>
                </a:solidFill>
                <a:latin typeface="Aptos"/>
              </a:rPr>
              <a:t>Saldo disponible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6229" y="1591421"/>
            <a:ext cx="155448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96" b="1">
                <a:solidFill>
                  <a:srgbClr val="FFFFFF"/>
                </a:solidFill>
                <a:latin typeface="Aptos"/>
              </a:rPr>
              <a:t>$ 185.000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6229" y="1856963"/>
            <a:ext cx="210312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4" b="0">
                <a:solidFill>
                  <a:srgbClr val="FFFFFF"/>
                </a:solidFill>
                <a:latin typeface="Aptos"/>
              </a:rPr>
              <a:t>Ingresos: $300.000   Gastos: $115.000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1622" y="235586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4" b="1">
                <a:solidFill>
                  <a:srgbClr val="013A40"/>
                </a:solidFill>
                <a:latin typeface="Aptos"/>
              </a:rPr>
              <a:t>Gastos por categoría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1622" y="2597261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9266" y="2613355"/>
            <a:ext cx="1166774" cy="80467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79266" y="2613355"/>
            <a:ext cx="956755" cy="8046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1622" y="2903037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0">
                <a:solidFill>
                  <a:srgbClr val="183238"/>
                </a:solidFill>
                <a:latin typeface="Aptos"/>
              </a:rPr>
              <a:t>Transporte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9266" y="2919130"/>
            <a:ext cx="1166774" cy="80467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79266" y="2919130"/>
            <a:ext cx="583387" cy="8046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1622" y="3208812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0">
                <a:solidFill>
                  <a:srgbClr val="183238"/>
                </a:solidFill>
                <a:latin typeface="Aptos"/>
              </a:rPr>
              <a:t>Ocio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9266" y="3224905"/>
            <a:ext cx="1166774" cy="80467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79266" y="3224905"/>
            <a:ext cx="326696" cy="8046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1622" y="3619195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4" b="1">
                <a:solidFill>
                  <a:srgbClr val="013A40"/>
                </a:solidFill>
                <a:latin typeface="Aptos"/>
              </a:rPr>
              <a:t>Últimos movimientos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1622" y="3860596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1">
                <a:solidFill>
                  <a:srgbClr val="183238"/>
                </a:solidFill>
                <a:latin typeface="Aptos"/>
              </a:rPr>
              <a:t>Sueldo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3" y="3860596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528" b="1">
                <a:solidFill>
                  <a:srgbClr val="00A896"/>
                </a:solidFill>
                <a:latin typeface="Aptos"/>
              </a:rPr>
              <a:t>+$300.000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1622" y="4198559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1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3" y="4198559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528" b="1">
                <a:solidFill>
                  <a:srgbClr val="C4472A"/>
                </a:solidFill>
                <a:latin typeface="Aptos"/>
              </a:rPr>
              <a:t>-$25.000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7052" y="4750856"/>
            <a:ext cx="321868" cy="321868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31192" y="4758903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8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696712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6E8E5"/>
                </a:solidFill>
                <a:latin typeface="Aptos"/>
              </a:rPr>
              <a:t>Una app pensada para transformar movimientos cotidianos
en información financiera clara.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¿Qué necesidad aborda la aplicación?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13A40"/>
                </a:solidFill>
                <a:latin typeface="Aptos"/>
              </a:rPr>
              <a:t>Gestionar el dinero diario suele ser reactivo: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84831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Los gastos pequeños se acumulan y pasan desapercibidos.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No siempre se conoce el saldo disponible real.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Registrar información en distintos lugares dificulta tomar decisiones.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4434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892808"/>
            <a:ext cx="39959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Necesidad detectada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286000"/>
            <a:ext cx="3977639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Centralizar los movimientos en una herramienta simple, rápida y entendible.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337560"/>
            <a:ext cx="4434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333756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3538728"/>
            <a:ext cx="39959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Resultado esperado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931920"/>
            <a:ext cx="3977639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Ver el saldo, reconocer los gastos principales y registrar un movimiento en pocos pasos.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Aptos"/>
              </a:rPr>
              <a:t>La aplicación prioriza claridad y uso cotidiano por sobre funciones complejas.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Idea clave: visibilidad financiera para apoyar decisiones diarias.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Objetivo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Alcance del prototipo funcional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0561320" cy="960120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83664"/>
            <a:ext cx="9829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Desarrollar una aplicación móvil para registrar y visualizar ingresos y gastos personales.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81912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Registrar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Monto, fecha, tipo
y descripción.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Organizar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Categorías iniciales
y personalizadas.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22007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Visualizar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Saldo, totales y gastos
por categoría.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92056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C4472A"/>
          </a:solidFill>
          <a:ln>
            <a:solidFill>
              <a:srgbClr val="C4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4544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Persistir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3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Información local
mediante SQLite.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Idea clave: el MVP resuelve el ciclo completo de registrar, guardar y consultar.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Experiencia de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Flujo principal dentro de la aplicación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8191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2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Abrir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Se muestra el resumen
financiero.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6517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Agregar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El usuario inicia
un movimiento.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26517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5119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Categorizar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Elige o crea
una categoría.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6517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8583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7272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Consultar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El dashboard se
actualiza.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92040"/>
            <a:ext cx="10469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8090"/>
                </a:solidFill>
                <a:latin typeface="Aptos"/>
              </a:rPr>
              <a:t>El flujo fue diseñado para que la información quede registrada con el menor número de pasos posible.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Demostrar este flujo en vivo permite explicar la propuesta de valor de inmediato.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Pantalla principal: resumen financiero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Información relevante desde el primer vistazo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61872"/>
            <a:ext cx="2361895" cy="4348886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408175"/>
            <a:ext cx="2142439" cy="405627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96861" y="1325880"/>
            <a:ext cx="614092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1408175"/>
            <a:ext cx="2142439" cy="1162202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645" y="154314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8" b="1">
                <a:solidFill>
                  <a:srgbClr val="D6E8E5"/>
                </a:solidFill>
                <a:latin typeface="Aptos"/>
              </a:rPr>
              <a:t>Mis finanzas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7653" y="1798076"/>
            <a:ext cx="1872508" cy="59234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0124" y="1903049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02C39A"/>
                </a:solidFill>
                <a:latin typeface="Aptos"/>
              </a:rPr>
              <a:t>Saldo disponible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0124" y="2030516"/>
            <a:ext cx="155448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94" b="1">
                <a:solidFill>
                  <a:srgbClr val="FFFFFF"/>
                </a:solidFill>
                <a:latin typeface="Aptos"/>
              </a:rPr>
              <a:t>$ 185.000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0124" y="2277953"/>
            <a:ext cx="210312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51" b="0">
                <a:solidFill>
                  <a:srgbClr val="FFFFFF"/>
                </a:solidFill>
                <a:latin typeface="Aptos"/>
              </a:rPr>
              <a:t>Ingresos: $300.000   Gastos: $115.000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649" y="274283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6" b="1">
                <a:solidFill>
                  <a:srgbClr val="013A40"/>
                </a:solidFill>
                <a:latin typeface="Aptos"/>
              </a:rPr>
              <a:t>Gastos por categoría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649" y="2967776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7499" y="2982772"/>
            <a:ext cx="1087221" cy="74980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67499" y="2982772"/>
            <a:ext cx="891521" cy="749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649" y="3252703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0">
                <a:solidFill>
                  <a:srgbClr val="183238"/>
                </a:solidFill>
                <a:latin typeface="Aptos"/>
              </a:rPr>
              <a:t>Transporte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7499" y="3267699"/>
            <a:ext cx="1087221" cy="74980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67499" y="3267699"/>
            <a:ext cx="543610" cy="749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2649" y="3537630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0">
                <a:solidFill>
                  <a:srgbClr val="183238"/>
                </a:solidFill>
                <a:latin typeface="Aptos"/>
              </a:rPr>
              <a:t>Ocio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67499" y="3552626"/>
            <a:ext cx="1087221" cy="74980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67499" y="3552626"/>
            <a:ext cx="304422" cy="749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2649" y="392003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6" b="1">
                <a:solidFill>
                  <a:srgbClr val="013A40"/>
                </a:solidFill>
                <a:latin typeface="Aptos"/>
              </a:rPr>
              <a:t>Últimos movimientos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649" y="4144975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1">
                <a:solidFill>
                  <a:srgbClr val="183238"/>
                </a:solidFill>
                <a:latin typeface="Aptos"/>
              </a:rPr>
              <a:t>Sueldo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4852" y="4144975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92" b="1">
                <a:solidFill>
                  <a:srgbClr val="00A896"/>
                </a:solidFill>
                <a:latin typeface="Aptos"/>
              </a:rPr>
              <a:t>+$300.000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649" y="4459894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1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4852" y="4459894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92" b="1">
                <a:solidFill>
                  <a:srgbClr val="C4472A"/>
                </a:solidFill>
                <a:latin typeface="Aptos"/>
              </a:rPr>
              <a:t>-$25.000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10246" y="4954584"/>
            <a:ext cx="299923" cy="299923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2740" y="4962083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12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1572768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03320" y="1572768"/>
            <a:ext cx="73152" cy="111556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9352" y="1773936"/>
            <a:ext cx="2807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Saldo disponible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9352" y="2167128"/>
            <a:ext cx="278892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Diferencia automática entre ingresos y gastos registrados.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03320" y="2907792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03320" y="2907792"/>
            <a:ext cx="73152" cy="1115568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9352" y="3108960"/>
            <a:ext cx="2807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Gastos por categoría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9352" y="3502152"/>
            <a:ext cx="278892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Barras comparativas para identificar en qué se concentra el gasto.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4242816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703320" y="4242816"/>
            <a:ext cx="73152" cy="1115568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9352" y="4443983"/>
            <a:ext cx="2807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Últimos movimientos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9352" y="4837176"/>
            <a:ext cx="278892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Lista breve que entrega trazabilidad de los registros más recientes.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4927" y="1572768"/>
            <a:ext cx="3474720" cy="3794760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54112" y="195681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Decisión de diseño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25603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6E8E5"/>
                </a:solidFill>
                <a:latin typeface="Aptos"/>
              </a:rPr>
              <a:t>Jerarquía visual
1. Saldo
2. Distribución del gasto
3. Movimientos recientes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8" y="470916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2C39A"/>
                </a:solidFill>
                <a:latin typeface="Aptos"/>
              </a:rPr>
              <a:t>Lectura rápida, sin saturar la pantalla.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Destacar cómo los datos se transforman en una lectura clara y accionable.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Registro de movimientos y categorías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El núcleo operativo del prototipo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261872"/>
            <a:ext cx="2361895" cy="4348886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1408175"/>
            <a:ext cx="2142439" cy="405627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15149" y="1325880"/>
            <a:ext cx="614092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" y="1408175"/>
            <a:ext cx="2142439" cy="359907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933" y="1520647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8" b="1">
                <a:solidFill>
                  <a:srgbClr val="FFFFFF"/>
                </a:solidFill>
                <a:latin typeface="Aptos"/>
              </a:rPr>
              <a:t>Nuevo movimiento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431" y="1948037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1">
                <a:solidFill>
                  <a:srgbClr val="63757A"/>
                </a:solidFill>
                <a:latin typeface="Aptos"/>
              </a:rPr>
              <a:t>Gasto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431" y="2517891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Monto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431" y="3080247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Categoría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431" y="374757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Fecha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431" y="429493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Descripción (opcional)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5941" y="2105497"/>
            <a:ext cx="884773" cy="254934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8412" y="2172980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73" b="1">
                <a:solidFill>
                  <a:srgbClr val="FFFFFF"/>
                </a:solidFill>
                <a:latin typeface="Aptos"/>
              </a:rPr>
              <a:t>Gasto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60691" y="2105497"/>
            <a:ext cx="884773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5664" y="2172980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73" b="1">
                <a:solidFill>
                  <a:srgbClr val="183238"/>
                </a:solidFill>
                <a:latin typeface="Aptos"/>
              </a:rPr>
              <a:t>Ingreso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431" y="2697845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7" b="1">
                <a:solidFill>
                  <a:srgbClr val="013A40"/>
                </a:solidFill>
                <a:latin typeface="Aptos"/>
              </a:rPr>
              <a:t>$ 25.000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5941" y="3260201"/>
            <a:ext cx="1872508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5918" y="3327684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5941" y="3927530"/>
            <a:ext cx="1872508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5918" y="3995013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183238"/>
                </a:solidFill>
                <a:latin typeface="Aptos"/>
              </a:rPr>
              <a:t>2026-09-21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5941" y="4482388"/>
            <a:ext cx="1872508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5918" y="4549871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183238"/>
                </a:solidFill>
                <a:latin typeface="Aptos"/>
              </a:rPr>
              <a:t>Almuerzo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5941" y="4969764"/>
            <a:ext cx="1872508" cy="329915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63370" y="5074737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6" b="1">
                <a:solidFill>
                  <a:srgbClr val="FFFFFF"/>
                </a:solidFill>
                <a:latin typeface="Aptos"/>
              </a:rPr>
              <a:t>Guardar movimiento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1664208"/>
            <a:ext cx="4251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Selección entre gasto e ingreso.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Validación de monto positivo y categoría obligatoria.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Elección de fecha y descripción opcional.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Creación de una categoría directamente desde el formulario.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1581912"/>
            <a:ext cx="283464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874519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+ Categoría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4871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3757A"/>
                </a:solidFill>
                <a:latin typeface="Aptos"/>
              </a:rPr>
              <a:t>El usuario escribe
el nombre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290779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34670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3757A"/>
                </a:solidFill>
                <a:latin typeface="Aptos"/>
              </a:rPr>
              <a:t>Se guarda y queda
seleccionada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901184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896"/>
                </a:solidFill>
                <a:latin typeface="Aptos"/>
              </a:rPr>
              <a:t>La interacción ya fue corregida y validada para el demo.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Mostrar que las categorías no son fijas: el usuario puede adaptar la app a su realidad.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Arquitectura de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Separación simple de responsabilidades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82495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Interfaz 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18488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HomeScreen
AddTransactionScreen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25856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87752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76148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Modelos de dominio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974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Transacción
Categoría
Presupuesto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337560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66744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404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Acceso a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77647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DatabaseHelper
Consultas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4165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45736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9194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Persistencia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855464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SQLite
finanzas.db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1508760"/>
            <a:ext cx="5212080" cy="4005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84708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13A40"/>
                </a:solidFill>
                <a:latin typeface="Aptos"/>
              </a:rPr>
              <a:t>¿Por qué esta estructura?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395728"/>
            <a:ext cx="4434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Las pantallas se enfocan en la interacción visual.</a:t>
            </a:r>
          </a:p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Los modelos representan los datos del negocio.</a:t>
            </a:r>
          </a:p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DatabaseHelper concentra la lógica de SQLite.</a:t>
            </a:r>
          </a:p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La base local permite usar la app sin conexión.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La arquitectura es pequeña, entendible y suficiente para el alcance del MVP.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Modelo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Cómo se almacenan los registros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127248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127248" cy="52120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CATEGORÍA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4688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38"/>
                </a:solidFill>
                <a:latin typeface="Aptos"/>
              </a:rPr>
              <a:t>•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78892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nombre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10896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tipo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79" y="1691640"/>
            <a:ext cx="3127248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79" y="1691640"/>
            <a:ext cx="3127248" cy="521207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84708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TRANSACCIÓN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5" y="24688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38"/>
                </a:solidFill>
                <a:latin typeface="Aptos"/>
              </a:rPr>
              <a:t>•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5" y="278892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categoría_id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5" y="310896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monto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5" y="342900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fecha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5" y="3749039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descripción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5" y="40690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tipo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1691640"/>
            <a:ext cx="3127248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5319" y="1691640"/>
            <a:ext cx="3127248" cy="521207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199" y="184708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PRESUPUESTO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5" y="24688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38"/>
                </a:solidFill>
                <a:latin typeface="Aptos"/>
              </a:rPr>
              <a:t>•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5" y="278892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categoría_id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215" y="310896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monto_límite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5" y="342900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30368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Categoría  1 ──────── N  Transacción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230368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Categoría  1 ──────── N  Presupuesto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Explicar que cada transacción pertenece a una categoría para permitir los resúmenes.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Avances técnicos y compatibilidad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Mejoras realizadas durante el desarrollo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73936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Persistencia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67128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SQLite guarda categorías
y movimientos.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72768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73936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Manejo de errores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67128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La carga informa un error
y permite reintentar.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74720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675887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Windows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069080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Se incorporó SQLite FFI
para ejecución de escritorio.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C4472A"/>
          </a:solidFill>
          <a:ln>
            <a:solidFill>
              <a:srgbClr val="C4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675887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Android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069080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Se genera APK de prueba
para instalar en celular.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486400"/>
            <a:ext cx="10241280" cy="438912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623560"/>
            <a:ext cx="9692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Validación realizada: análisis estático limpio y compilación exitosa para Windows.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Conectar los avances técnicos con la confiabilidad del entregable que se demuestra.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Demostración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Recorrido en vivo: 3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Inicio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Mostrar saldo y estado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Ingreso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Registrar sueldo o ingreso de prueba.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Gasto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Agregar gasto y crear categoría si corresponde.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Resultado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Volver al inicio y revisar saldo, barras y lista.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10912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28090"/>
                </a:solidFill>
                <a:latin typeface="Aptos"/>
              </a:rPr>
              <a:t>Consejo: usa valores simples para que el cambio de saldo sea fácil de explicar.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La demo debe validar el flujo completo, no solo mostrar pantallas estáticas.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Evolución posterior al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0632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063240" cy="146304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1284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Corto plazo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2423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3757A"/>
                </a:solidFill>
                <a:latin typeface="Aptos"/>
              </a:rPr>
              <a:t>Editar/eliminar movimientos
Mejorar validación de montos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8163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632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3063240" cy="146304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1284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Mediano plazo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26080"/>
            <a:ext cx="2423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3757A"/>
                </a:solidFill>
                <a:latin typeface="Aptos"/>
              </a:rPr>
              <a:t>Presupuestos por categoría
Filtros mensuales e historial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8163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0632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063240" cy="146304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1284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Futuro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26080"/>
            <a:ext cx="2423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3757A"/>
                </a:solidFill>
                <a:latin typeface="Aptos"/>
              </a:rPr>
              <a:t>Gráficos avanzados
Respaldo y sincronización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13A40"/>
                </a:solidFill>
                <a:latin typeface="Aptos"/>
              </a:rPr>
              <a:t>El prototipo actual funciona como una base sólida para incorporar estas mejoras de forma iterativa.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Mostrar que el proyecto tiene dirección y que las siguientes funciones responden al mismo problema.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FINANZAS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73936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8E5"/>
                </a:solidFill>
                <a:latin typeface="Aptos"/>
              </a:rPr>
              <a:t>Un MVP funcional para registrar, organizar
y comprender las finanzas personales.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889504"/>
            <a:ext cx="4572000" cy="1078992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64408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Registro simple  ·  Datos locales  ·  Resumen claro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82803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C39A"/>
                </a:solidFill>
                <a:latin typeface="Aptos"/>
              </a:rPr>
              <a:t>Gracias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3583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Preguntas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713232"/>
            <a:ext cx="2534716" cy="4667097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36407" y="859536"/>
            <a:ext cx="2315260" cy="437448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64525" y="777240"/>
            <a:ext cx="659026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36407" y="859536"/>
            <a:ext cx="2315260" cy="386242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3435" y="980236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2" b="1">
                <a:solidFill>
                  <a:srgbClr val="FFFFFF"/>
                </a:solidFill>
                <a:latin typeface="Aptos"/>
              </a:rPr>
              <a:t>Nuevo movimiento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1482" y="1438899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1">
                <a:solidFill>
                  <a:srgbClr val="63757A"/>
                </a:solidFill>
                <a:latin typeface="Aptos"/>
              </a:rPr>
              <a:t>Gasto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1482" y="2050450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Monto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1482" y="2653954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Categoría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1482" y="3370112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Fecha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1482" y="3957523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Descripción (opcional)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1248" y="1607880"/>
            <a:ext cx="949512" cy="27358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949" y="1680301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16" b="1">
                <a:solidFill>
                  <a:srgbClr val="FFFFFF"/>
                </a:solidFill>
                <a:latin typeface="Aptos"/>
              </a:rPr>
              <a:t>Gasto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7322" y="1607880"/>
            <a:ext cx="949512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9976" y="1680301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16" b="1">
                <a:solidFill>
                  <a:srgbClr val="183238"/>
                </a:solidFill>
                <a:latin typeface="Aptos"/>
              </a:rPr>
              <a:t>Ingreso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1482" y="2243571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2" b="1">
                <a:solidFill>
                  <a:srgbClr val="013A40"/>
                </a:solidFill>
                <a:latin typeface="Aptos"/>
              </a:rPr>
              <a:t>$ 25.000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81248" y="2847075"/>
            <a:ext cx="2025578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7809" y="2919496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81248" y="3563233"/>
            <a:ext cx="2025578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7809" y="3635654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183238"/>
                </a:solidFill>
                <a:latin typeface="Aptos"/>
              </a:rPr>
              <a:t>2026-09-21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1248" y="4158691"/>
            <a:ext cx="2025578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7809" y="4231111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183238"/>
                </a:solidFill>
                <a:latin typeface="Aptos"/>
              </a:rPr>
              <a:t>Almuerzo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1248" y="4681728"/>
            <a:ext cx="2025578" cy="354055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8977" y="4794382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4" b="1">
                <a:solidFill>
                  <a:srgbClr val="FFFFFF"/>
                </a:solidFill>
                <a:latin typeface="Aptos"/>
              </a:rPr>
              <a:t>Guardar movimiento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989320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6E8E5"/>
                </a:solidFill>
                <a:latin typeface="Aptos"/>
              </a:rPr>
              <a:t>Cierre | 1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 App — Presentación de avance</dc:title>
  <dc:subject>Proyecto Capstone</dc:subject>
  <dc:creator>Tomas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