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3" y="28895"/>
            <a:ext cx="12191695" cy="6858000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66928" y="704088"/>
            <a:ext cx="109728" cy="434340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932688"/>
            <a:ext cx="48463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FINANZAS
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514600"/>
            <a:ext cx="44805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8E5"/>
                </a:solidFill>
                <a:latin typeface="Aptos"/>
              </a:rPr>
              <a:t>Control simple de ingresos, gastos
y categorías personales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4297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2C39A"/>
                </a:solidFill>
                <a:latin typeface="Aptos"/>
              </a:rPr>
              <a:t>Proyecto Capstone  |  Presentación de avance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5376672"/>
            <a:ext cx="42976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D6E8E5"/>
                </a:solidFill>
                <a:latin typeface="Aptos"/>
              </a:rPr>
              <a:t>Duración estimada: 15 minutos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777240"/>
            <a:ext cx="2534716" cy="4667097"/>
          </a:xfrm>
          <a:prstGeom prst="roundRect">
            <a:avLst>
              <a:gd name="adj" fmla="val 12000"/>
            </a:avLst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790688" y="923544"/>
            <a:ext cx="2315260" cy="4374489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18805" y="841247"/>
            <a:ext cx="659026" cy="45720"/>
          </a:xfrm>
          <a:prstGeom prst="roundRect">
            <a:avLst>
              <a:gd name="adj" fmla="val 12000"/>
            </a:avLst>
          </a:prstGeom>
          <a:solidFill>
            <a:srgbClr val="809295"/>
          </a:solidFill>
          <a:ln>
            <a:solidFill>
              <a:srgbClr val="809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90688" y="923544"/>
            <a:ext cx="2315260" cy="1247241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67715" y="1068384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92" b="1">
                <a:solidFill>
                  <a:srgbClr val="D6E8E5"/>
                </a:solidFill>
                <a:latin typeface="Aptos"/>
              </a:rPr>
              <a:t>Mis finanzas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35528" y="1341973"/>
            <a:ext cx="2025578" cy="63569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56229" y="1454627"/>
            <a:ext cx="1188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16" b="0">
                <a:solidFill>
                  <a:srgbClr val="02C39A"/>
                </a:solidFill>
                <a:latin typeface="Aptos"/>
              </a:rPr>
              <a:t>Saldo disponible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6229" y="1591421"/>
            <a:ext cx="1554480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96" b="1">
                <a:solidFill>
                  <a:srgbClr val="FFFFFF"/>
                </a:solidFill>
                <a:latin typeface="Aptos"/>
              </a:rPr>
              <a:t>$ 185.000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56229" y="1856963"/>
            <a:ext cx="210312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4" b="0">
                <a:solidFill>
                  <a:srgbClr val="FFFFFF"/>
                </a:solidFill>
                <a:latin typeface="Aptos"/>
              </a:rPr>
              <a:t>Ingresos: $300.000   Gastos: $115.000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1622" y="2355860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4" b="1">
                <a:solidFill>
                  <a:srgbClr val="013A40"/>
                </a:solidFill>
                <a:latin typeface="Aptos"/>
              </a:rPr>
              <a:t>Gastos por categoría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1622" y="2597261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8" b="0">
                <a:solidFill>
                  <a:srgbClr val="183238"/>
                </a:solidFill>
                <a:latin typeface="Aptos"/>
              </a:rPr>
              <a:t>Comida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9266" y="2613355"/>
            <a:ext cx="1166774" cy="80467"/>
          </a:xfrm>
          <a:prstGeom prst="roundRect">
            <a:avLst>
              <a:gd name="adj" fmla="val 12000"/>
            </a:avLst>
          </a:prstGeom>
          <a:solidFill>
            <a:srgbClr val="E6E6E0"/>
          </a:solidFill>
          <a:ln>
            <a:solidFill>
              <a:srgbClr val="E6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579266" y="2613355"/>
            <a:ext cx="956755" cy="80467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51622" y="2903037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8" b="0">
                <a:solidFill>
                  <a:srgbClr val="183238"/>
                </a:solidFill>
                <a:latin typeface="Aptos"/>
              </a:rPr>
              <a:t>Transporte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79266" y="2919130"/>
            <a:ext cx="1166774" cy="80467"/>
          </a:xfrm>
          <a:prstGeom prst="roundRect">
            <a:avLst>
              <a:gd name="adj" fmla="val 12000"/>
            </a:avLst>
          </a:prstGeom>
          <a:solidFill>
            <a:srgbClr val="E6E6E0"/>
          </a:solidFill>
          <a:ln>
            <a:solidFill>
              <a:srgbClr val="E6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579266" y="2919130"/>
            <a:ext cx="583387" cy="80467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951622" y="3208812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8" b="0">
                <a:solidFill>
                  <a:srgbClr val="183238"/>
                </a:solidFill>
                <a:latin typeface="Aptos"/>
              </a:rPr>
              <a:t>Ocio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79266" y="3224905"/>
            <a:ext cx="1166774" cy="80467"/>
          </a:xfrm>
          <a:prstGeom prst="roundRect">
            <a:avLst>
              <a:gd name="adj" fmla="val 12000"/>
            </a:avLst>
          </a:prstGeom>
          <a:solidFill>
            <a:srgbClr val="E6E6E0"/>
          </a:solidFill>
          <a:ln>
            <a:solidFill>
              <a:srgbClr val="E6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579266" y="3224905"/>
            <a:ext cx="326696" cy="80467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51622" y="3619195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04" b="1">
                <a:solidFill>
                  <a:srgbClr val="013A40"/>
                </a:solidFill>
                <a:latin typeface="Aptos"/>
              </a:rPr>
              <a:t>Últimos movimientos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1622" y="3860596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8" b="1">
                <a:solidFill>
                  <a:srgbClr val="183238"/>
                </a:solidFill>
                <a:latin typeface="Aptos"/>
              </a:rPr>
              <a:t>Sueldo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98863" y="3860596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528" b="1">
                <a:solidFill>
                  <a:srgbClr val="00A896"/>
                </a:solidFill>
                <a:latin typeface="Aptos"/>
              </a:rPr>
              <a:t>+$300.000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1622" y="4198559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28" b="1">
                <a:solidFill>
                  <a:srgbClr val="183238"/>
                </a:solidFill>
                <a:latin typeface="Aptos"/>
              </a:rPr>
              <a:t>Comida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98863" y="4198559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528" b="1">
                <a:solidFill>
                  <a:srgbClr val="C4472A"/>
                </a:solidFill>
                <a:latin typeface="Aptos"/>
              </a:rPr>
              <a:t>-$25.000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7052" y="4750856"/>
            <a:ext cx="321868" cy="321868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631192" y="4758903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8" b="1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0" y="5696712"/>
            <a:ext cx="5212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D6E8E5"/>
                </a:solidFill>
                <a:latin typeface="Aptos"/>
              </a:rPr>
              <a:t>Una app pensada para transformar movimientos cotidianos
en información financiera clara.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260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13A40"/>
                </a:solidFill>
                <a:latin typeface="Aptos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¿Qué necesidad aborda la aplicación?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70432"/>
            <a:ext cx="10607040" cy="16459"/>
          </a:xfrm>
          <a:prstGeom prst="rect">
            <a:avLst/>
          </a:prstGeom>
          <a:solidFill>
            <a:srgbClr val="D8E2E0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44200" y="38404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028090"/>
                </a:solidFill>
                <a:latin typeface="Aptos"/>
              </a:rPr>
              <a:t>1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13A40"/>
                </a:solidFill>
                <a:latin typeface="Aptos"/>
              </a:rPr>
              <a:t>Gestionar el dinero diario suele ser reactivo: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084831"/>
            <a:ext cx="5074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83238"/>
                </a:solidFill>
                <a:latin typeface="Aptos"/>
              </a:defRPr>
            </a:pPr>
            <a:r>
              <a:t>Los gastos pequeños se acumulan y pasan desapercibidos.</a:t>
            </a:r>
          </a:p>
          <a:p>
            <a:pPr>
              <a:spcAft>
                <a:spcPts val="1000"/>
              </a:spcAft>
              <a:defRPr sz="1600">
                <a:solidFill>
                  <a:srgbClr val="183238"/>
                </a:solidFill>
                <a:latin typeface="Aptos"/>
              </a:defRPr>
            </a:pPr>
            <a:r>
              <a:t>No siempre se conoce el saldo disponible real.</a:t>
            </a:r>
          </a:p>
          <a:p>
            <a:pPr>
              <a:spcAft>
                <a:spcPts val="1000"/>
              </a:spcAft>
              <a:defRPr sz="1600">
                <a:solidFill>
                  <a:srgbClr val="183238"/>
                </a:solidFill>
                <a:latin typeface="Aptos"/>
              </a:defRPr>
            </a:pPr>
            <a:r>
              <a:t>Registrar información en distintos lugares dificulta tomar decisiones.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691640"/>
            <a:ext cx="443484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92240" y="1691640"/>
            <a:ext cx="73152" cy="132588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48272" y="1892808"/>
            <a:ext cx="39959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13A40"/>
                </a:solidFill>
                <a:latin typeface="Aptos"/>
              </a:rPr>
              <a:t>Necesidad detectada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2286000"/>
            <a:ext cx="3977639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Centralizar los movimientos en una herramienta simple, rápida y entendible.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337560"/>
            <a:ext cx="443484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92240" y="3337560"/>
            <a:ext cx="73152" cy="132588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48272" y="3538728"/>
            <a:ext cx="3995927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13A40"/>
                </a:solidFill>
                <a:latin typeface="Aptos"/>
              </a:rPr>
              <a:t>Resultado esperado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3931920"/>
            <a:ext cx="3977639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Ver el saldo, reconocer los gastos principales y registrar un movimiento en pocos pasos.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30368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28090"/>
                </a:solidFill>
                <a:latin typeface="Aptos"/>
              </a:rPr>
              <a:t>La aplicación prioriza claridad y uso cotidiano por sobre funciones complejas.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662940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620256"/>
            <a:ext cx="9966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6E8E5"/>
                </a:solidFill>
                <a:latin typeface="Aptos"/>
              </a:rPr>
              <a:t>Idea clave: visibilidad financiera para apoyar decisiones diarias.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260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13A40"/>
                </a:solidFill>
                <a:latin typeface="Aptos"/>
              </a:rPr>
              <a:t>Objetivo del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Alcance del prototipo funcional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70432"/>
            <a:ext cx="10607040" cy="16459"/>
          </a:xfrm>
          <a:prstGeom prst="rect">
            <a:avLst/>
          </a:prstGeom>
          <a:solidFill>
            <a:srgbClr val="D8E2E0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44200" y="38404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028090"/>
                </a:solidFill>
                <a:latin typeface="Aptos"/>
              </a:rPr>
              <a:t>1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10561320" cy="960120"/>
          </a:xfrm>
          <a:prstGeom prst="roundRect">
            <a:avLst>
              <a:gd name="adj" fmla="val 12000"/>
            </a:avLst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883664"/>
            <a:ext cx="9829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Desarrollar una aplicación móvil para registrar y visualizar ingresos y gastos personales.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63240"/>
            <a:ext cx="23317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581912" y="3291840"/>
            <a:ext cx="713232" cy="109728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584448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13A40"/>
                </a:solidFill>
                <a:latin typeface="Aptos"/>
              </a:rPr>
              <a:t>Registrar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968496"/>
            <a:ext cx="1965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3757A"/>
                </a:solidFill>
                <a:latin typeface="Aptos"/>
              </a:rPr>
              <a:t>Monto, fecha, tipo
y descripción.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8" y="3063240"/>
            <a:ext cx="23317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51960" y="3291840"/>
            <a:ext cx="713232" cy="109728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84448" y="3584448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13A40"/>
                </a:solidFill>
                <a:latin typeface="Aptos"/>
              </a:rPr>
              <a:t>Organizar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968496"/>
            <a:ext cx="1965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3757A"/>
                </a:solidFill>
                <a:latin typeface="Aptos"/>
              </a:rPr>
              <a:t>Categorías iniciales
y personalizadas.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17336" y="3063240"/>
            <a:ext cx="23317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922007" y="3291840"/>
            <a:ext cx="713232" cy="109728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54496" y="3584448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13A40"/>
                </a:solidFill>
                <a:latin typeface="Aptos"/>
              </a:rPr>
              <a:t>Visualizar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3968496"/>
            <a:ext cx="1965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3757A"/>
                </a:solidFill>
                <a:latin typeface="Aptos"/>
              </a:rPr>
              <a:t>Saldo, totales y gastos
por categoría.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7384" y="3063240"/>
            <a:ext cx="23317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592056" y="3291840"/>
            <a:ext cx="713232" cy="109728"/>
          </a:xfrm>
          <a:prstGeom prst="roundRect">
            <a:avLst>
              <a:gd name="adj" fmla="val 12000"/>
            </a:avLst>
          </a:prstGeom>
          <a:solidFill>
            <a:srgbClr val="C4472A"/>
          </a:solidFill>
          <a:ln>
            <a:solidFill>
              <a:srgbClr val="C44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24544" y="3584448"/>
            <a:ext cx="20574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13A40"/>
                </a:solidFill>
                <a:latin typeface="Aptos"/>
              </a:rPr>
              <a:t>Persistir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70263" y="3968496"/>
            <a:ext cx="19659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3757A"/>
                </a:solidFill>
                <a:latin typeface="Aptos"/>
              </a:rPr>
              <a:t>Información local
mediante SQLite.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62940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620256"/>
            <a:ext cx="9966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6E8E5"/>
                </a:solidFill>
                <a:latin typeface="Aptos"/>
              </a:rPr>
              <a:t>Idea clave: el MVP resuelve el ciclo completo de registrar, guardar y consultar.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260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13A40"/>
                </a:solidFill>
                <a:latin typeface="Aptos"/>
              </a:rPr>
              <a:t>Experiencia de usuario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Flujo principal dentro de la aplicación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70432"/>
            <a:ext cx="10607040" cy="16459"/>
          </a:xfrm>
          <a:prstGeom prst="rect">
            <a:avLst/>
          </a:prstGeom>
          <a:solidFill>
            <a:srgbClr val="D8E2E0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44200" y="38404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028090"/>
                </a:solidFill>
                <a:latin typeface="Aptos"/>
              </a:rPr>
              <a:t>1.5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74519"/>
            <a:ext cx="2212848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581912" y="1572768"/>
            <a:ext cx="585216" cy="58521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73352" y="1691640"/>
            <a:ext cx="393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1401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13A40"/>
                </a:solidFill>
                <a:latin typeface="Aptos"/>
              </a:rPr>
              <a:t>Abrir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89504"/>
            <a:ext cx="175564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3757A"/>
                </a:solidFill>
                <a:latin typeface="Aptos"/>
              </a:rPr>
              <a:t>Se muestra el resumen
financiero.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9816" y="26517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28090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1874519"/>
            <a:ext cx="2212848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16552" y="1572768"/>
            <a:ext cx="585216" cy="58521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7992" y="1691640"/>
            <a:ext cx="393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60" y="241401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13A40"/>
                </a:solidFill>
                <a:latin typeface="Aptos"/>
              </a:rPr>
              <a:t>Agregar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889504"/>
            <a:ext cx="175564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3757A"/>
                </a:solidFill>
                <a:latin typeface="Aptos"/>
              </a:rPr>
              <a:t>El usuario inicia
un movimiento.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4456" y="26517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28090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1874519"/>
            <a:ext cx="2212848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251192" y="1572768"/>
            <a:ext cx="585216" cy="585216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42631" y="1691640"/>
            <a:ext cx="393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241401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13A40"/>
                </a:solidFill>
                <a:latin typeface="Aptos"/>
              </a:rPr>
              <a:t>Categorizar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889504"/>
            <a:ext cx="175564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3757A"/>
                </a:solidFill>
                <a:latin typeface="Aptos"/>
              </a:rPr>
              <a:t>Elige o crea
una categoría.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69096" y="265176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28090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60" y="1874519"/>
            <a:ext cx="2212848" cy="1965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085832" y="1572768"/>
            <a:ext cx="585216" cy="585216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77272" y="1691640"/>
            <a:ext cx="39319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2414016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13A40"/>
                </a:solidFill>
                <a:latin typeface="Aptos"/>
              </a:rPr>
              <a:t>Consultar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889504"/>
            <a:ext cx="175564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63757A"/>
                </a:solidFill>
                <a:latin typeface="Aptos"/>
              </a:rPr>
              <a:t>El dashboard se
actualiza.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892040"/>
            <a:ext cx="10469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28090"/>
                </a:solidFill>
                <a:latin typeface="Aptos"/>
              </a:rPr>
              <a:t>El flujo fue diseñado para que la información quede registrada con el menor número de pasos posible.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662940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620256"/>
            <a:ext cx="9966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6E8E5"/>
                </a:solidFill>
                <a:latin typeface="Aptos"/>
              </a:rPr>
              <a:t>Demostrar este flujo en vivo permite explicar la propuesta de valor de inmediato.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260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13A40"/>
                </a:solidFill>
                <a:latin typeface="Aptos"/>
              </a:rPr>
              <a:t>Pantalla principal: resumen financiero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Información relevante desde el primer vistazo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70432"/>
            <a:ext cx="10607040" cy="16459"/>
          </a:xfrm>
          <a:prstGeom prst="rect">
            <a:avLst/>
          </a:prstGeom>
          <a:solidFill>
            <a:srgbClr val="D8E2E0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44200" y="38404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028090"/>
                </a:solidFill>
                <a:latin typeface="Aptos"/>
              </a:rPr>
              <a:t>1.5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261872"/>
            <a:ext cx="2361895" cy="4348886"/>
          </a:xfrm>
          <a:prstGeom prst="roundRect">
            <a:avLst>
              <a:gd name="adj" fmla="val 12000"/>
            </a:avLst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32688" y="1408175"/>
            <a:ext cx="2142439" cy="405627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696861" y="1325880"/>
            <a:ext cx="614092" cy="45720"/>
          </a:xfrm>
          <a:prstGeom prst="roundRect">
            <a:avLst>
              <a:gd name="adj" fmla="val 12000"/>
            </a:avLst>
          </a:prstGeom>
          <a:solidFill>
            <a:srgbClr val="809295"/>
          </a:solidFill>
          <a:ln>
            <a:solidFill>
              <a:srgbClr val="809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32688" y="1408175"/>
            <a:ext cx="2142439" cy="1162202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645" y="1543141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8" b="1">
                <a:solidFill>
                  <a:srgbClr val="D6E8E5"/>
                </a:solidFill>
                <a:latin typeface="Aptos"/>
              </a:rPr>
              <a:t>Mis finanzas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7653" y="1798076"/>
            <a:ext cx="1872508" cy="592348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80124" y="1903049"/>
            <a:ext cx="11887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73" b="0">
                <a:solidFill>
                  <a:srgbClr val="02C39A"/>
                </a:solidFill>
                <a:latin typeface="Aptos"/>
              </a:rPr>
              <a:t>Saldo disponible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0124" y="2030516"/>
            <a:ext cx="1554480" cy="2651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94" b="1">
                <a:solidFill>
                  <a:srgbClr val="FFFFFF"/>
                </a:solidFill>
                <a:latin typeface="Aptos"/>
              </a:rPr>
              <a:t>$ 185.000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0124" y="2277953"/>
            <a:ext cx="210312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51" b="0">
                <a:solidFill>
                  <a:srgbClr val="FFFFFF"/>
                </a:solidFill>
                <a:latin typeface="Aptos"/>
              </a:rPr>
              <a:t>Ingresos: $300.000   Gastos: $115.000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649" y="2742834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6" b="1">
                <a:solidFill>
                  <a:srgbClr val="013A40"/>
                </a:solidFill>
                <a:latin typeface="Aptos"/>
              </a:rPr>
              <a:t>Gastos por categoría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649" y="2967776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92" b="0">
                <a:solidFill>
                  <a:srgbClr val="183238"/>
                </a:solidFill>
                <a:latin typeface="Aptos"/>
              </a:rPr>
              <a:t>Comida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67499" y="2982772"/>
            <a:ext cx="1087221" cy="74980"/>
          </a:xfrm>
          <a:prstGeom prst="roundRect">
            <a:avLst>
              <a:gd name="adj" fmla="val 12000"/>
            </a:avLst>
          </a:prstGeom>
          <a:solidFill>
            <a:srgbClr val="E6E6E0"/>
          </a:solidFill>
          <a:ln>
            <a:solidFill>
              <a:srgbClr val="E6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667499" y="2982772"/>
            <a:ext cx="891521" cy="7498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82649" y="3252703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92" b="0">
                <a:solidFill>
                  <a:srgbClr val="183238"/>
                </a:solidFill>
                <a:latin typeface="Aptos"/>
              </a:rPr>
              <a:t>Transporte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67499" y="3267699"/>
            <a:ext cx="1087221" cy="74980"/>
          </a:xfrm>
          <a:prstGeom prst="roundRect">
            <a:avLst>
              <a:gd name="adj" fmla="val 12000"/>
            </a:avLst>
          </a:prstGeom>
          <a:solidFill>
            <a:srgbClr val="E6E6E0"/>
          </a:solidFill>
          <a:ln>
            <a:solidFill>
              <a:srgbClr val="E6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667499" y="3267699"/>
            <a:ext cx="543610" cy="7498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2649" y="3537630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92" b="0">
                <a:solidFill>
                  <a:srgbClr val="183238"/>
                </a:solidFill>
                <a:latin typeface="Aptos"/>
              </a:rPr>
              <a:t>Ocio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667499" y="3552626"/>
            <a:ext cx="1087221" cy="74980"/>
          </a:xfrm>
          <a:prstGeom prst="roundRect">
            <a:avLst>
              <a:gd name="adj" fmla="val 12000"/>
            </a:avLst>
          </a:prstGeom>
          <a:solidFill>
            <a:srgbClr val="E6E6E0"/>
          </a:solidFill>
          <a:ln>
            <a:solidFill>
              <a:srgbClr val="E6E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667499" y="3552626"/>
            <a:ext cx="304422" cy="7498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82649" y="3920032"/>
            <a:ext cx="1828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56" b="1">
                <a:solidFill>
                  <a:srgbClr val="013A40"/>
                </a:solidFill>
                <a:latin typeface="Aptos"/>
              </a:rPr>
              <a:t>Últimos movimientos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649" y="4144975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92" b="1">
                <a:solidFill>
                  <a:srgbClr val="183238"/>
                </a:solidFill>
                <a:latin typeface="Aptos"/>
              </a:rPr>
              <a:t>Sueldo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44852" y="4144975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492" b="1">
                <a:solidFill>
                  <a:srgbClr val="00A896"/>
                </a:solidFill>
                <a:latin typeface="Aptos"/>
              </a:rPr>
              <a:t>+$300.000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649" y="4459894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92" b="1">
                <a:solidFill>
                  <a:srgbClr val="183238"/>
                </a:solidFill>
                <a:latin typeface="Aptos"/>
              </a:rPr>
              <a:t>Comida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4852" y="4459894"/>
            <a:ext cx="68580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492" b="1">
                <a:solidFill>
                  <a:srgbClr val="C4472A"/>
                </a:solidFill>
                <a:latin typeface="Aptos"/>
              </a:rPr>
              <a:t>-$25.000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10246" y="4954584"/>
            <a:ext cx="299923" cy="299923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632740" y="4962083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12" b="1">
                <a:solidFill>
                  <a:srgbClr val="FFFFFF"/>
                </a:solidFill>
                <a:latin typeface="Aptos"/>
              </a:rPr>
              <a:t>+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1572768"/>
            <a:ext cx="324612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703320" y="1572768"/>
            <a:ext cx="73152" cy="1115568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59352" y="1773936"/>
            <a:ext cx="28072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13A40"/>
                </a:solidFill>
                <a:latin typeface="Aptos"/>
              </a:rPr>
              <a:t>Saldo disponible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9352" y="2167128"/>
            <a:ext cx="278892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Diferencia automática entre ingresos y gastos registrados.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03320" y="2907792"/>
            <a:ext cx="324612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3703320" y="2907792"/>
            <a:ext cx="73152" cy="1115568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59352" y="3108960"/>
            <a:ext cx="28072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13A40"/>
                </a:solidFill>
                <a:latin typeface="Aptos"/>
              </a:rPr>
              <a:t>Gastos por categoría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59352" y="3502152"/>
            <a:ext cx="278892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Barras comparativas para identificar en qué se concentra el gasto.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03320" y="4242816"/>
            <a:ext cx="3246120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3703320" y="4242816"/>
            <a:ext cx="73152" cy="1115568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959352" y="4443983"/>
            <a:ext cx="28072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13A40"/>
                </a:solidFill>
                <a:latin typeface="Aptos"/>
              </a:rPr>
              <a:t>Últimos movimientos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959352" y="4837176"/>
            <a:ext cx="278892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Lista breve que entrega trazabilidad de los registros más recientes.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424927" y="1572768"/>
            <a:ext cx="3474720" cy="3794760"/>
          </a:xfrm>
          <a:prstGeom prst="roundRect">
            <a:avLst>
              <a:gd name="adj" fmla="val 12000"/>
            </a:avLst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54112" y="1956816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Decisión de diseño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2560320"/>
            <a:ext cx="2651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D6E8E5"/>
                </a:solidFill>
                <a:latin typeface="Aptos"/>
              </a:rPr>
              <a:t>Jerarquía visual
1. Saldo
2. Distribución del gasto
3. Movimientos recientes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44968" y="4709160"/>
            <a:ext cx="2788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02C39A"/>
                </a:solidFill>
                <a:latin typeface="Aptos"/>
              </a:rPr>
              <a:t>Lectura rápida, sin saturar la pantalla.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920" y="662940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" y="6620256"/>
            <a:ext cx="9966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6E8E5"/>
                </a:solidFill>
                <a:latin typeface="Aptos"/>
              </a:rPr>
              <a:t>Destacar cómo los datos se transforman en una lectura clara y accionable.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260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13A40"/>
                </a:solidFill>
                <a:latin typeface="Aptos"/>
              </a:rPr>
              <a:t>Registro de movimientos y categorías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El núcleo operativo del prototipo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70432"/>
            <a:ext cx="10607040" cy="16459"/>
          </a:xfrm>
          <a:prstGeom prst="rect">
            <a:avLst/>
          </a:prstGeom>
          <a:solidFill>
            <a:srgbClr val="D8E2E0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44200" y="38404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028090"/>
                </a:solidFill>
                <a:latin typeface="Aptos"/>
              </a:rPr>
              <a:t>1.5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1261872"/>
            <a:ext cx="2361895" cy="4348886"/>
          </a:xfrm>
          <a:prstGeom prst="roundRect">
            <a:avLst>
              <a:gd name="adj" fmla="val 12000"/>
            </a:avLst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50976" y="1408175"/>
            <a:ext cx="2142439" cy="405627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715149" y="1325880"/>
            <a:ext cx="614092" cy="45720"/>
          </a:xfrm>
          <a:prstGeom prst="roundRect">
            <a:avLst>
              <a:gd name="adj" fmla="val 12000"/>
            </a:avLst>
          </a:prstGeom>
          <a:solidFill>
            <a:srgbClr val="809295"/>
          </a:solidFill>
          <a:ln>
            <a:solidFill>
              <a:srgbClr val="809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50976" y="1408175"/>
            <a:ext cx="2142439" cy="359907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933" y="1520647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38" b="1">
                <a:solidFill>
                  <a:srgbClr val="FFFFFF"/>
                </a:solidFill>
                <a:latin typeface="Aptos"/>
              </a:rPr>
              <a:t>Nuevo movimiento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3431" y="1948037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73" b="1">
                <a:solidFill>
                  <a:srgbClr val="63757A"/>
                </a:solidFill>
                <a:latin typeface="Aptos"/>
              </a:rPr>
              <a:t>Gasto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3431" y="2517891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73" b="0">
                <a:solidFill>
                  <a:srgbClr val="63757A"/>
                </a:solidFill>
                <a:latin typeface="Aptos"/>
              </a:rPr>
              <a:t>Monto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431" y="3080247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73" b="0">
                <a:solidFill>
                  <a:srgbClr val="63757A"/>
                </a:solidFill>
                <a:latin typeface="Aptos"/>
              </a:rPr>
              <a:t>Categoría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3431" y="374757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73" b="0">
                <a:solidFill>
                  <a:srgbClr val="63757A"/>
                </a:solidFill>
                <a:latin typeface="Aptos"/>
              </a:rPr>
              <a:t>Fecha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3431" y="429493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73" b="0">
                <a:solidFill>
                  <a:srgbClr val="63757A"/>
                </a:solidFill>
                <a:latin typeface="Aptos"/>
              </a:rPr>
              <a:t>Descripción (opcional)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85941" y="2105497"/>
            <a:ext cx="884773" cy="254934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98412" y="2172980"/>
            <a:ext cx="64008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73" b="1">
                <a:solidFill>
                  <a:srgbClr val="FFFFFF"/>
                </a:solidFill>
                <a:latin typeface="Aptos"/>
              </a:rPr>
              <a:t>Gasto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60691" y="2105497"/>
            <a:ext cx="884773" cy="254934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65664" y="2172980"/>
            <a:ext cx="64008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73" b="1">
                <a:solidFill>
                  <a:srgbClr val="183238"/>
                </a:solidFill>
                <a:latin typeface="Aptos"/>
              </a:rPr>
              <a:t>Ingreso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3431" y="2697845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7" b="1">
                <a:solidFill>
                  <a:srgbClr val="013A40"/>
                </a:solidFill>
                <a:latin typeface="Aptos"/>
              </a:rPr>
              <a:t>$ 25.000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85941" y="3260201"/>
            <a:ext cx="1872508" cy="254934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75918" y="3327684"/>
            <a:ext cx="137160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73" b="0">
                <a:solidFill>
                  <a:srgbClr val="183238"/>
                </a:solidFill>
                <a:latin typeface="Aptos"/>
              </a:rPr>
              <a:t>Comida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5941" y="3927530"/>
            <a:ext cx="1872508" cy="254934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75918" y="3995013"/>
            <a:ext cx="137160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73" b="0">
                <a:solidFill>
                  <a:srgbClr val="183238"/>
                </a:solidFill>
                <a:latin typeface="Aptos"/>
              </a:rPr>
              <a:t>2026-09-21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85941" y="4482388"/>
            <a:ext cx="1872508" cy="254934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75918" y="4549871"/>
            <a:ext cx="137160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73" b="0">
                <a:solidFill>
                  <a:srgbClr val="183238"/>
                </a:solidFill>
                <a:latin typeface="Aptos"/>
              </a:rPr>
              <a:t>Almuerzo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85941" y="4969764"/>
            <a:ext cx="1872508" cy="329915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363370" y="5074737"/>
            <a:ext cx="16459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56" b="1">
                <a:solidFill>
                  <a:srgbClr val="FFFFFF"/>
                </a:solidFill>
                <a:latin typeface="Aptos"/>
              </a:rPr>
              <a:t>Guardar movimiento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39" y="1664208"/>
            <a:ext cx="4251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83238"/>
                </a:solidFill>
                <a:latin typeface="Aptos"/>
              </a:defRPr>
            </a:pPr>
            <a:r>
              <a:t>Selección entre gasto e ingreso.</a:t>
            </a:r>
          </a:p>
          <a:p>
            <a:pPr>
              <a:spcAft>
                <a:spcPts val="1000"/>
              </a:spcAft>
              <a:defRPr sz="1600">
                <a:solidFill>
                  <a:srgbClr val="183238"/>
                </a:solidFill>
                <a:latin typeface="Aptos"/>
              </a:defRPr>
            </a:pPr>
            <a:r>
              <a:t>Validación de monto positivo y categoría obligatoria.</a:t>
            </a:r>
          </a:p>
          <a:p>
            <a:pPr>
              <a:spcAft>
                <a:spcPts val="1000"/>
              </a:spcAft>
              <a:defRPr sz="1600">
                <a:solidFill>
                  <a:srgbClr val="183238"/>
                </a:solidFill>
                <a:latin typeface="Aptos"/>
              </a:defRPr>
            </a:pPr>
            <a:r>
              <a:t>Elección de fecha y descripción opcional.</a:t>
            </a:r>
          </a:p>
          <a:p>
            <a:pPr>
              <a:spcAft>
                <a:spcPts val="1000"/>
              </a:spcAft>
              <a:defRPr sz="1600">
                <a:solidFill>
                  <a:srgbClr val="183238"/>
                </a:solidFill>
                <a:latin typeface="Aptos"/>
              </a:defRPr>
            </a:pPr>
            <a:r>
              <a:t>Creación de una categoría directamente desde el formulario.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19872" y="1581912"/>
            <a:ext cx="2834640" cy="3154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94192" y="1874519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13A40"/>
                </a:solidFill>
                <a:latin typeface="Aptos"/>
              </a:rPr>
              <a:t>+ Categoría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2487168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3757A"/>
                </a:solidFill>
                <a:latin typeface="Aptos"/>
              </a:rPr>
              <a:t>El usuario escribe
el nombre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152" y="2907792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028090"/>
                </a:solidFill>
                <a:latin typeface="Aptos"/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3346704"/>
            <a:ext cx="2286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3757A"/>
                </a:solidFill>
                <a:latin typeface="Aptos"/>
              </a:rPr>
              <a:t>Se guarda y queda
seleccionada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4901184"/>
            <a:ext cx="7040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A896"/>
                </a:solidFill>
                <a:latin typeface="Aptos"/>
              </a:rPr>
              <a:t>La interacción ya fue corregida y validada para el demo.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662940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6620256"/>
            <a:ext cx="9966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6E8E5"/>
                </a:solidFill>
                <a:latin typeface="Aptos"/>
              </a:rPr>
              <a:t>Mostrar que las categorías no son fijas: el usuario puede adaptar la app a su realidad.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260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13A40"/>
                </a:solidFill>
                <a:latin typeface="Aptos"/>
              </a:rPr>
              <a:t>Arquitectura de 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Separación simple de responsabilidades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70432"/>
            <a:ext cx="10607040" cy="16459"/>
          </a:xfrm>
          <a:prstGeom prst="rect">
            <a:avLst/>
          </a:prstGeom>
          <a:solidFill>
            <a:srgbClr val="D8E2E0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44200" y="38404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028090"/>
                </a:solidFill>
                <a:latin typeface="Aptos"/>
              </a:rPr>
              <a:t>1.5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508760"/>
            <a:ext cx="3703320" cy="758952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1682495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Interfaz Flutter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618488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ptos"/>
              </a:rPr>
              <a:t>HomeScreen
AddTransactionScreen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2258568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28090"/>
                </a:solidFill>
                <a:latin typeface="Aptos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587752"/>
            <a:ext cx="3703320" cy="758952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2761488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Modelos de dominio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697480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ptos"/>
              </a:rPr>
              <a:t>Transacción
Categoría
Presupuesto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2032" y="3337560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28090"/>
                </a:solidFill>
                <a:latin typeface="Aptos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666744"/>
            <a:ext cx="3703320" cy="758952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3840480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Acceso a datos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776472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ptos"/>
              </a:rPr>
              <a:t>DatabaseHelper
Consultas 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42032" y="4416552"/>
            <a:ext cx="3657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28090"/>
                </a:solidFill>
                <a:latin typeface="Aptos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745736"/>
            <a:ext cx="3703320" cy="758952"/>
          </a:xfrm>
          <a:prstGeom prst="roundRect">
            <a:avLst>
              <a:gd name="adj" fmla="val 12000"/>
            </a:avLst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88720" y="4919472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Persistencia local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855464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FFFFFF"/>
                </a:solidFill>
                <a:latin typeface="Aptos"/>
              </a:rPr>
              <a:t>SQLite
finanzas.db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32120" y="1508760"/>
            <a:ext cx="5212080" cy="4005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97880" y="1847088"/>
            <a:ext cx="4526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013A40"/>
                </a:solidFill>
                <a:latin typeface="Aptos"/>
              </a:rPr>
              <a:t>¿Por qué esta estructura?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2395728"/>
            <a:ext cx="4434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83238"/>
                </a:solidFill>
                <a:latin typeface="Aptos"/>
              </a:defRPr>
            </a:pPr>
            <a:r>
              <a:t>Las pantallas se enfocan en la interacción visual.</a:t>
            </a:r>
          </a:p>
          <a:p>
            <a:pPr>
              <a:spcAft>
                <a:spcPts val="1000"/>
              </a:spcAft>
              <a:defRPr sz="1500">
                <a:solidFill>
                  <a:srgbClr val="183238"/>
                </a:solidFill>
                <a:latin typeface="Aptos"/>
              </a:defRPr>
            </a:pPr>
            <a:r>
              <a:t>Los modelos representan los datos del negocio.</a:t>
            </a:r>
          </a:p>
          <a:p>
            <a:pPr>
              <a:spcAft>
                <a:spcPts val="1000"/>
              </a:spcAft>
              <a:defRPr sz="1500">
                <a:solidFill>
                  <a:srgbClr val="183238"/>
                </a:solidFill>
                <a:latin typeface="Aptos"/>
              </a:defRPr>
            </a:pPr>
            <a:r>
              <a:t>DatabaseHelper concentra la lógica de SQLite.</a:t>
            </a:r>
          </a:p>
          <a:p>
            <a:pPr>
              <a:spcAft>
                <a:spcPts val="1000"/>
              </a:spcAft>
              <a:defRPr sz="1500">
                <a:solidFill>
                  <a:srgbClr val="183238"/>
                </a:solidFill>
                <a:latin typeface="Aptos"/>
              </a:defRPr>
            </a:pPr>
            <a:r>
              <a:t>La base local permite usar la app sin conexión.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62940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620256"/>
            <a:ext cx="9966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6E8E5"/>
                </a:solidFill>
                <a:latin typeface="Aptos"/>
              </a:rPr>
              <a:t>La arquitectura es pequeña, entendible y suficiente para el alcance del MVP.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260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13A40"/>
                </a:solidFill>
                <a:latin typeface="Aptos"/>
              </a:rPr>
              <a:t>Modelo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Cómo se almacenan los registros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70432"/>
            <a:ext cx="10607040" cy="16459"/>
          </a:xfrm>
          <a:prstGeom prst="rect">
            <a:avLst/>
          </a:prstGeom>
          <a:solidFill>
            <a:srgbClr val="D8E2E0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44200" y="38404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028090"/>
                </a:solidFill>
                <a:latin typeface="Aptos"/>
              </a:rPr>
              <a:t>1.5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3127248" cy="3127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3127248" cy="521207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847088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CATEGORÍA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246888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238"/>
                </a:solidFill>
                <a:latin typeface="Aptos"/>
              </a:rPr>
              <a:t>•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" y="278892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83238"/>
                </a:solidFill>
                <a:latin typeface="Aptos"/>
              </a:rPr>
              <a:t>• nombre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" y="310896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83238"/>
                </a:solidFill>
                <a:latin typeface="Aptos"/>
              </a:rPr>
              <a:t>• tipo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79" y="1691640"/>
            <a:ext cx="3127248" cy="3127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26279" y="1691640"/>
            <a:ext cx="3127248" cy="521207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09159" y="1847088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TRANSACCIÓN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7175" y="246888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238"/>
                </a:solidFill>
                <a:latin typeface="Aptos"/>
              </a:rPr>
              <a:t>• 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37175" y="278892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83238"/>
                </a:solidFill>
                <a:latin typeface="Aptos"/>
              </a:rPr>
              <a:t>• categoría_id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7175" y="310896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83238"/>
                </a:solidFill>
                <a:latin typeface="Aptos"/>
              </a:rPr>
              <a:t>• monto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37175" y="342900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83238"/>
                </a:solidFill>
                <a:latin typeface="Aptos"/>
              </a:rPr>
              <a:t>• fecha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37175" y="3749039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83238"/>
                </a:solidFill>
                <a:latin typeface="Aptos"/>
              </a:rPr>
              <a:t>• descripción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37175" y="406908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83238"/>
                </a:solidFill>
                <a:latin typeface="Aptos"/>
              </a:rPr>
              <a:t>• tipo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19" y="1691640"/>
            <a:ext cx="3127248" cy="3127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75319" y="1691640"/>
            <a:ext cx="3127248" cy="521207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458199" y="1847088"/>
            <a:ext cx="2743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PRESUPUESTO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86215" y="246888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3238"/>
                </a:solidFill>
                <a:latin typeface="Aptos"/>
              </a:rPr>
              <a:t>• 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86215" y="278892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83238"/>
                </a:solidFill>
                <a:latin typeface="Aptos"/>
              </a:rPr>
              <a:t>• categoría_id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86215" y="310896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83238"/>
                </a:solidFill>
                <a:latin typeface="Aptos"/>
              </a:rPr>
              <a:t>• monto_límite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86215" y="3429000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83238"/>
                </a:solidFill>
                <a:latin typeface="Aptos"/>
              </a:rPr>
              <a:t>• 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5230368"/>
            <a:ext cx="4206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13A40"/>
                </a:solidFill>
                <a:latin typeface="Aptos"/>
              </a:rPr>
              <a:t>Categoría  1 ──────── N  Transacción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5230368"/>
            <a:ext cx="4206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013A40"/>
                </a:solidFill>
                <a:latin typeface="Aptos"/>
              </a:rPr>
              <a:t>Categoría  1 ──────── N  Presupuesto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662940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6620256"/>
            <a:ext cx="9966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6E8E5"/>
                </a:solidFill>
                <a:latin typeface="Aptos"/>
              </a:rPr>
              <a:t>Explicar que cada transacción pertenece a una categoría para permitir los resúmenes.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260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13A40"/>
                </a:solidFill>
                <a:latin typeface="Aptos"/>
              </a:rPr>
              <a:t>Avances técnicos y compatibilidad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Mejoras realizadas durante el desarrollo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70432"/>
            <a:ext cx="10607040" cy="16459"/>
          </a:xfrm>
          <a:prstGeom prst="rect">
            <a:avLst/>
          </a:prstGeom>
          <a:solidFill>
            <a:srgbClr val="D8E2E0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44200" y="38404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028090"/>
                </a:solidFill>
                <a:latin typeface="Aptos"/>
              </a:rPr>
              <a:t>1.5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572768"/>
            <a:ext cx="47731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7240" y="1572768"/>
            <a:ext cx="73152" cy="1325880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1" y="1773936"/>
            <a:ext cx="4334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13A40"/>
                </a:solidFill>
                <a:latin typeface="Aptos"/>
              </a:rPr>
              <a:t>Persistencia 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167128"/>
            <a:ext cx="4315968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SQLite guarda categorías
y movimientos.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72768"/>
            <a:ext cx="47731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217920" y="1572768"/>
            <a:ext cx="73152" cy="1325880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1773936"/>
            <a:ext cx="4334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13A40"/>
                </a:solidFill>
                <a:latin typeface="Aptos"/>
              </a:rPr>
              <a:t>Manejo de errores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167128"/>
            <a:ext cx="4315968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La carga informa un error
y permite reintentar.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474720"/>
            <a:ext cx="47731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77240" y="3474720"/>
            <a:ext cx="73152" cy="1325880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1" y="3675887"/>
            <a:ext cx="4334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13A40"/>
                </a:solidFill>
                <a:latin typeface="Aptos"/>
              </a:rPr>
              <a:t>Windows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4069080"/>
            <a:ext cx="4315968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Se incorporó SQLite FFI
para ejecución de escritorio.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474720"/>
            <a:ext cx="4773168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17920" y="3474720"/>
            <a:ext cx="73152" cy="1325880"/>
          </a:xfrm>
          <a:prstGeom prst="roundRect">
            <a:avLst>
              <a:gd name="adj" fmla="val 12000"/>
            </a:avLst>
          </a:prstGeom>
          <a:solidFill>
            <a:srgbClr val="C4472A"/>
          </a:solidFill>
          <a:ln>
            <a:solidFill>
              <a:srgbClr val="C44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73952" y="3675887"/>
            <a:ext cx="433425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13A40"/>
                </a:solidFill>
                <a:latin typeface="Aptos"/>
              </a:rPr>
              <a:t>Android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4069080"/>
            <a:ext cx="4315968" cy="59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Se genera APK de prueba
para instalar en celular.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486400"/>
            <a:ext cx="10241280" cy="438912"/>
          </a:xfrm>
          <a:prstGeom prst="roundRect">
            <a:avLst>
              <a:gd name="adj" fmla="val 12000"/>
            </a:avLst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51560" y="5623560"/>
            <a:ext cx="969264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Validación realizada: análisis estático limpio y compilación exitosa para Windows.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662940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6620256"/>
            <a:ext cx="9966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6E8E5"/>
                </a:solidFill>
                <a:latin typeface="Aptos"/>
              </a:rPr>
              <a:t>Conectar los avances técnicos con la confiabilidad del entregable que se demuestra.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260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13A40"/>
                </a:solidFill>
                <a:latin typeface="Aptos"/>
              </a:rPr>
              <a:t>Demostración 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Recorrido en vivo: 3 minutos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70432"/>
            <a:ext cx="10607040" cy="16459"/>
          </a:xfrm>
          <a:prstGeom prst="rect">
            <a:avLst/>
          </a:prstGeom>
          <a:solidFill>
            <a:srgbClr val="D8E2E0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44200" y="38404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028090"/>
                </a:solidFill>
                <a:latin typeface="Aptos"/>
              </a:rPr>
              <a:t>1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242316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75688"/>
            <a:ext cx="4206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A896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13A40"/>
                </a:solidFill>
                <a:latin typeface="Aptos"/>
              </a:rPr>
              <a:t>Inicio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99232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Mostrar saldo y estado inicial.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11296" y="1828800"/>
            <a:ext cx="242316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30752" y="2075688"/>
            <a:ext cx="4206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A896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8" y="2514600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13A40"/>
                </a:solidFill>
                <a:latin typeface="Aptos"/>
              </a:rPr>
              <a:t>Ingreso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608" y="2999232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Registrar sueldo o ingreso de prueba.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64224" y="1828800"/>
            <a:ext cx="242316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075688"/>
            <a:ext cx="4206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A896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2514600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13A40"/>
                </a:solidFill>
                <a:latin typeface="Aptos"/>
              </a:rPr>
              <a:t>Gasto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2999232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Agregar gasto y crear categoría si corresponde.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17152" y="1828800"/>
            <a:ext cx="2423160" cy="2148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36608" y="2075688"/>
            <a:ext cx="42062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0A896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7464" y="2514600"/>
            <a:ext cx="18288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013A40"/>
                </a:solidFill>
                <a:latin typeface="Aptos"/>
              </a:rPr>
              <a:t>Resultado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4" y="2999232"/>
            <a:ext cx="1874519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Volver al inicio y revisar saldo, barras y lista.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010912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28090"/>
                </a:solidFill>
                <a:latin typeface="Aptos"/>
              </a:rPr>
              <a:t>Consejo: usa valores simples para que el cambio de saldo sea fácil de explicar.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662940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620256"/>
            <a:ext cx="9966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6E8E5"/>
                </a:solidFill>
                <a:latin typeface="Aptos"/>
              </a:rPr>
              <a:t>La demo debe validar el flujo completo, no solo mostrar pantallas estáticas.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896"/>
                </a:solidFill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292608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013A40"/>
                </a:solidFill>
                <a:latin typeface="Aptos"/>
              </a:rPr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804672"/>
            <a:ext cx="98755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3757A"/>
                </a:solidFill>
                <a:latin typeface="Aptos"/>
              </a:rPr>
              <a:t>Evolución posterior al MVP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170432"/>
            <a:ext cx="10607040" cy="16459"/>
          </a:xfrm>
          <a:prstGeom prst="rect">
            <a:avLst/>
          </a:prstGeom>
          <a:solidFill>
            <a:srgbClr val="D8E2E0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44200" y="384048"/>
            <a:ext cx="822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028090"/>
                </a:solidFill>
                <a:latin typeface="Aptos"/>
              </a:rPr>
              <a:t>1 min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306324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3063240" cy="146304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21284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13A40"/>
                </a:solidFill>
                <a:latin typeface="Aptos"/>
              </a:rPr>
              <a:t>Corto plazo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926080"/>
            <a:ext cx="2423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3757A"/>
                </a:solidFill>
                <a:latin typeface="Aptos"/>
              </a:rPr>
              <a:t>Editar/eliminar movimientos
Mejorar validación de montos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2" y="28163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28090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828800"/>
            <a:ext cx="306324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72000" y="1828800"/>
            <a:ext cx="3063240" cy="146304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46320" y="221284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13A40"/>
                </a:solidFill>
                <a:latin typeface="Aptos"/>
              </a:rPr>
              <a:t>Mediano plazo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926080"/>
            <a:ext cx="2423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3757A"/>
                </a:solidFill>
                <a:latin typeface="Aptos"/>
              </a:rPr>
              <a:t>Presupuestos por categoría
Filtros mensuales e historial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28163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28090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21040" y="1828800"/>
            <a:ext cx="306324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D8E2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321040" y="1828800"/>
            <a:ext cx="3063240" cy="146304"/>
          </a:xfrm>
          <a:prstGeom prst="roundRect">
            <a:avLst>
              <a:gd name="adj" fmla="val 12000"/>
            </a:avLst>
          </a:prstGeom>
          <a:solidFill>
            <a:srgbClr val="02C39A"/>
          </a:solidFill>
          <a:ln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0" y="2212848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13A40"/>
                </a:solidFill>
                <a:latin typeface="Aptos"/>
              </a:rPr>
              <a:t>Futuro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926080"/>
            <a:ext cx="24231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3757A"/>
                </a:solidFill>
                <a:latin typeface="Aptos"/>
              </a:rPr>
              <a:t>Gráficos avanzados
Respaldo y sincronización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98348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13A40"/>
                </a:solidFill>
                <a:latin typeface="Aptos"/>
              </a:rPr>
              <a:t>El prototipo actual funciona como una base sólida para incorporar estas mejoras de forma iterativa.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74536"/>
            <a:ext cx="12191695" cy="283464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629400"/>
            <a:ext cx="411480" cy="137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620256"/>
            <a:ext cx="996696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D6E8E5"/>
                </a:solidFill>
                <a:latin typeface="Aptos"/>
              </a:rPr>
              <a:t>Mostrar que el proyecto tiene dirección y que las siguientes funciones responden al mismo problema.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02412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FINANZAS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73936"/>
            <a:ext cx="5212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D6E8E5"/>
                </a:solidFill>
                <a:latin typeface="Aptos"/>
              </a:rPr>
              <a:t>Un MVP funcional para registrar, organizar
y comprender las finanzas personales.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889504"/>
            <a:ext cx="4572000" cy="1078992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3264408"/>
            <a:ext cx="4160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Registro simple  ·  Datos locales  ·  Resumen claro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482803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02C39A"/>
                </a:solidFill>
                <a:latin typeface="Aptos"/>
              </a:rPr>
              <a:t>Gracias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5358384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ptos"/>
              </a:rPr>
              <a:t>Preguntas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713232"/>
            <a:ext cx="2534716" cy="4667097"/>
          </a:xfrm>
          <a:prstGeom prst="roundRect">
            <a:avLst>
              <a:gd name="adj" fmla="val 12000"/>
            </a:avLst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836407" y="859536"/>
            <a:ext cx="2315260" cy="4374489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664525" y="777240"/>
            <a:ext cx="659026" cy="45720"/>
          </a:xfrm>
          <a:prstGeom prst="roundRect">
            <a:avLst>
              <a:gd name="adj" fmla="val 12000"/>
            </a:avLst>
          </a:prstGeom>
          <a:solidFill>
            <a:srgbClr val="809295"/>
          </a:solidFill>
          <a:ln>
            <a:solidFill>
              <a:srgbClr val="8092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36407" y="859536"/>
            <a:ext cx="2315260" cy="386242"/>
          </a:xfrm>
          <a:prstGeom prst="rect">
            <a:avLst/>
          </a:prstGeom>
          <a:solidFill>
            <a:srgbClr val="013A40"/>
          </a:solidFill>
          <a:ln>
            <a:solidFill>
              <a:srgbClr val="013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13435" y="980236"/>
            <a:ext cx="15544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92" b="1">
                <a:solidFill>
                  <a:srgbClr val="FFFFFF"/>
                </a:solidFill>
                <a:latin typeface="Aptos"/>
              </a:rPr>
              <a:t>Nuevo movimiento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1482" y="1438899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16" b="1">
                <a:solidFill>
                  <a:srgbClr val="63757A"/>
                </a:solidFill>
                <a:latin typeface="Aptos"/>
              </a:rPr>
              <a:t>Gasto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1482" y="2050450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16" b="0">
                <a:solidFill>
                  <a:srgbClr val="63757A"/>
                </a:solidFill>
                <a:latin typeface="Aptos"/>
              </a:rPr>
              <a:t>Monto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1482" y="2653954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16" b="0">
                <a:solidFill>
                  <a:srgbClr val="63757A"/>
                </a:solidFill>
                <a:latin typeface="Aptos"/>
              </a:rPr>
              <a:t>Categoría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1482" y="3370112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16" b="0">
                <a:solidFill>
                  <a:srgbClr val="63757A"/>
                </a:solidFill>
                <a:latin typeface="Aptos"/>
              </a:rPr>
              <a:t>Fecha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1482" y="3957523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16" b="0">
                <a:solidFill>
                  <a:srgbClr val="63757A"/>
                </a:solidFill>
                <a:latin typeface="Aptos"/>
              </a:rPr>
              <a:t>Descripción (opcional)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81248" y="1607880"/>
            <a:ext cx="949512" cy="273588"/>
          </a:xfrm>
          <a:prstGeom prst="roundRect">
            <a:avLst>
              <a:gd name="adj" fmla="val 12000"/>
            </a:avLst>
          </a:prstGeom>
          <a:solidFill>
            <a:srgbClr val="028090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01949" y="1680301"/>
            <a:ext cx="64008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16" b="1">
                <a:solidFill>
                  <a:srgbClr val="FFFFFF"/>
                </a:solidFill>
                <a:latin typeface="Aptos"/>
              </a:rPr>
              <a:t>Gasto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7322" y="1607880"/>
            <a:ext cx="949512" cy="273588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39976" y="1680301"/>
            <a:ext cx="64008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16" b="1">
                <a:solidFill>
                  <a:srgbClr val="183238"/>
                </a:solidFill>
                <a:latin typeface="Aptos"/>
              </a:rPr>
              <a:t>Ingreso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1482" y="2243571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32" b="1">
                <a:solidFill>
                  <a:srgbClr val="013A40"/>
                </a:solidFill>
                <a:latin typeface="Aptos"/>
              </a:rPr>
              <a:t>$ 25.000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81248" y="2847075"/>
            <a:ext cx="2025578" cy="273588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77809" y="2919496"/>
            <a:ext cx="137160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16" b="0">
                <a:solidFill>
                  <a:srgbClr val="183238"/>
                </a:solidFill>
                <a:latin typeface="Aptos"/>
              </a:rPr>
              <a:t>Comida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81248" y="3563233"/>
            <a:ext cx="2025578" cy="273588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77809" y="3635654"/>
            <a:ext cx="137160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16" b="0">
                <a:solidFill>
                  <a:srgbClr val="183238"/>
                </a:solidFill>
                <a:latin typeface="Aptos"/>
              </a:rPr>
              <a:t>2026-09-21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81248" y="4158691"/>
            <a:ext cx="2025578" cy="273588"/>
          </a:xfrm>
          <a:prstGeom prst="roundRect">
            <a:avLst>
              <a:gd name="adj" fmla="val 12000"/>
            </a:avLst>
          </a:prstGeom>
          <a:solidFill>
            <a:srgbClr val="F1EFE8"/>
          </a:solidFill>
          <a:ln>
            <a:solidFill>
              <a:srgbClr val="F1E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77809" y="4231111"/>
            <a:ext cx="137160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16" b="0">
                <a:solidFill>
                  <a:srgbClr val="183238"/>
                </a:solidFill>
                <a:latin typeface="Aptos"/>
              </a:rPr>
              <a:t>Almuerzo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81248" y="4681728"/>
            <a:ext cx="2025578" cy="354055"/>
          </a:xfrm>
          <a:prstGeom prst="roundRect">
            <a:avLst>
              <a:gd name="adj" fmla="val 12000"/>
            </a:avLst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78977" y="4794382"/>
            <a:ext cx="1645920" cy="1097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4" b="1">
                <a:solidFill>
                  <a:srgbClr val="FFFFFF"/>
                </a:solidFill>
                <a:latin typeface="Aptos"/>
              </a:rPr>
              <a:t>Guardar movimiento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5989320"/>
            <a:ext cx="20116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D6E8E5"/>
                </a:solidFill>
                <a:latin typeface="Aptos"/>
              </a:rPr>
              <a:t>Cierre | 1 min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1007</Words>
  <Application>Microsoft Office PowerPoint</Application>
  <PresentationFormat>Panorámica</PresentationFormat>
  <Paragraphs>242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Finanzas App — Presentación de avance</dc:title>
  <dc:subject>Proyecto Capstone</dc:subject>
  <dc:creator>Tomas</dc:creator>
  <cp:keywords/>
  <dc:description>generated using python-pptx</dc:description>
  <cp:lastModifiedBy>TOMAS IGNACIO GARCIA BARRIA</cp:lastModifiedBy>
  <cp:revision>2</cp:revision>
  <dcterms:created xsi:type="dcterms:W3CDTF">2013-01-27T09:14:16Z</dcterms:created>
  <dcterms:modified xsi:type="dcterms:W3CDTF">2026-09-21T20:54:26Z</dcterms:modified>
  <cp:category/>
</cp:coreProperties>
</file>