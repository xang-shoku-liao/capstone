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10"/>
  </p:normalViewPr>
  <p:slideViewPr>
    <p:cSldViewPr snapToGrid="0" snapToObjects="1">
      <p:cViewPr>
        <p:scale>
          <a:sx n="118" d="100"/>
          <a:sy n="118" d="100"/>
        </p:scale>
        <p:origin x="198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41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TÍTULO — APT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 de Control de Finanzas Personales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Registra, clasifica y visualiza tus ingresos y gastos para tomar mejores decisiones financieras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Alumno: 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 García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965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Anibal Faundez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439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— Portafolio de Título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892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Fase 1 · 10 minutos · Trabajo individual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por qué es relevante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móvil que permite registrar ingresos y gastos, clasificarlos por categoría, definir presupuestos y visualizar reportes, para ayudar a cualquier persona a controlar sus finanzas personales sin depender de planillas complejas.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011680" y="3337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01168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social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la mitad de las personas no lleva un registro claro de sus gastos, dificultando ahorrar y cumplir metas.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310896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5806440" y="3337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80644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69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personal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389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de una necesidad propia: ya construí una versión manual en Excel — este proyecto la lleva a una app usable por cualquiera.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310896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9601200" y="3337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960120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690" dirty="0"/>
          </a:p>
        </p:txBody>
      </p:sp>
      <p:sp>
        <p:nvSpPr>
          <p:cNvPr id="20" name="Text 18"/>
          <p:cNvSpPr/>
          <p:nvPr/>
        </p:nvSpPr>
        <p:spPr>
          <a:xfrm>
            <a:off x="83667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académica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389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aplicar de forma integral competencias de desarrollo de software, modelado de datos y certificación.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perfil de egreso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cubre 3 competencias, cumpliendo el mínimo exigido por la Escuela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114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011680" y="1965960"/>
            <a:ext cx="640080" cy="640080"/>
          </a:xfrm>
          <a:prstGeom prst="ellipse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0116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móvil utilizando técnicas que sistematicen el proceso de desarrollo y mantenimiento, asegurando el logro de los objetivos.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4114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806440" y="1965960"/>
            <a:ext cx="640080" cy="640080"/>
          </a:xfrm>
          <a:prstGeom prst="ellipse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8064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datos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de datos para soportar el registro de ingresos, gastos y categorías, de acuerdo a un diseño escalable.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4114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9601200" y="1965960"/>
            <a:ext cx="640080" cy="640080"/>
          </a:xfrm>
          <a:prstGeom prst="ellipse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601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Certificación y pruebas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 tanto de la app como de los procesos, utilizando buenas prácticas de la industria.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 profesionales y factibilidad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proyecto y por qué es realizable en el semestre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 profesionales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y bases de datos: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interés profesional — este proyecto exige modelar bien los datos financieros.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ahora a un contexto cercano y cotidiano.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personal: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construí mi propio sistema de finanzas en Excel — conozco el dominio de primera mano.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486400" cy="42976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 (MVP):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categorías, presupuesto y reportes — sin funciones avanzadas de banca.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semanas, trabajo individual compatible con práctica profesional y trabajo part-time.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gratuito (Flutter, SQLite, GitHub) sin costos de infraestructura.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técnico: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— no depende de datos externos ni APIs de terceros para el MVP.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móvil que permita a los usuarios registrar, clasificar y visualizar sus ingresos y gastos, para facilitar una mejor gestión de sus finanzas personales.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71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modelo de datos que soporte el registro de ingresos, gastos y categorías.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41985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registro y clasificación de movimientos financieros (predefinidos y personalizables).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96849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presupuestos y metas de ahorro con alertas cuando se acerquen al límite.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51713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reportes visuales (gráficos por categoría, por mes) para el usuario.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50657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aplicación mediante pruebas funcionales y de usabilidad.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herramientas de trabajo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(Kanban personal) + stack técnico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Ágil — Kanban personal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(dentro del espectro Scrum / Ágil / Tradicional).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Scrum completo: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 trabajo individual, no aplican roles ni ceremonias de equipo (daily, retro grupal).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elegido: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con iteraciones quincenales, backlog priorizado y revisión personal de avance cada 2 semanas.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flexibilidad para reordenar tareas según disponibilidad real (práctica + trabajo), manteniendo visibilidad continua del avance a lo largo de las 5 fases del cronograma (17 semanas).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486400" cy="42976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trabajo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5508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/ Framework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0" y="2194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+ Flutter (multiplataforma, ideal para desarrollo individual ágil).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7249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03920" y="272491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embebido (paquete sqflite).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32552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325526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(repositorio individual, commits por tarea).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7856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0" y="37856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(tablero Kanban integrado al repo).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43159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mockups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03920" y="431596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/ Draw.io para prototipos de baja fidelidad.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/ Visual Studio Code.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Cronograma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semanas · 5 fases · Responsable: Tomás García (trabajo individual) · Ver Gantt adjunto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212848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2212848" cy="4160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66928" y="1975104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Diseño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Alcance y objetivos (03–07 ago)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566928" y="326440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Requisitos func./no func. (10–14 ago)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566928" y="39227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Modelo de datos y mockups (17–21 ago)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66928" y="458114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Metodología y plan (24–26 ago)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66928" y="523951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Presentación avance (31 ago)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2743200" y="1508760"/>
            <a:ext cx="2212848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743200" y="15087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0" y="1892808"/>
            <a:ext cx="2212848" cy="4160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852928" y="1975104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6–8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2928" y="2194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Base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2928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Entorno Flutter + SQLite (07–09 sep)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2852928" y="326440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Estructura de base de datos (09–11 sep)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852928" y="39227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Navegación base de la app (14–18 sep)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2852928" y="458114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Validación con docente guía (21–25 sep)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029200" y="1508760"/>
            <a:ext cx="2212848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029200" y="15087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0" y="1892808"/>
            <a:ext cx="2212848" cy="4160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138928" y="1975104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9–13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38928" y="2194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38928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y clasificación (28 sep–02 oct)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138928" y="326440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Gestión de categorías (05–09 oct)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138928" y="39227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Presupuestos y alertas (12–28 oct)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7315200" y="1508760"/>
            <a:ext cx="2212848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7315200" y="15087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15200" y="1892808"/>
            <a:ext cx="2212848" cy="4160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7424928" y="1975104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14–15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24928" y="2194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Pruebas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24928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visuales (02–04 nov)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7424928" y="326440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Pruebas funcionales (04–06 nov)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7424928" y="39227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Pruebas de usabilidad (09–11 nov)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7424928" y="458114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Corrección de observaciones (11–13 nov)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9601200" y="1508760"/>
            <a:ext cx="2212848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9601200" y="15087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601200" y="1892808"/>
            <a:ext cx="2212848" cy="4160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9710928" y="1975104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16–17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710928" y="2194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710928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Documentación de cierre (16–18 nov)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9710928" y="326440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de usuario (18–20 nov)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9710928" y="392277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Presentación final (23–25 nov)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9710928" y="458114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Entrega del proyecto (27 nov)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esperadas y justificación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560" dirty="0"/>
          </a:p>
        </p:txBody>
      </p:sp>
      <p:sp>
        <p:nvSpPr>
          <p:cNvPr id="5" name="Shape 3"/>
          <p:cNvSpPr/>
          <p:nvPr/>
        </p:nvSpPr>
        <p:spPr>
          <a:xfrm>
            <a:off x="1325880" y="1554480"/>
            <a:ext cx="1005840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554480" y="15819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planificación/diseño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Justifican decisiones de arquitectura, modelo de datos y mockups antes de programar.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1325880" y="2651760"/>
            <a:ext cx="1005840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554480" y="26791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control y pruebas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0175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Evidencian que la app cumple los requisitos funcionales y de usabilidad definidos.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1325880" y="3749040"/>
            <a:ext cx="1005840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554480" y="37764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cierre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proyecto, aprendizajes y estado final entregado.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560" dirty="0"/>
          </a:p>
        </p:txBody>
      </p:sp>
      <p:sp>
        <p:nvSpPr>
          <p:cNvPr id="20" name="Shape 18"/>
          <p:cNvSpPr/>
          <p:nvPr/>
        </p:nvSpPr>
        <p:spPr>
          <a:xfrm>
            <a:off x="1325880" y="4846320"/>
            <a:ext cx="10058400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554480" y="48737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5212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+ base de datos + reportes integrados, evidencia central del logro de los objetivos.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RACI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individual: T. García concentra R/A; el docente guía participa como C/I en hitos clave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548640"/>
          </a:xfrm>
          <a:prstGeom prst="rect">
            <a:avLst/>
          </a:prstGeom>
          <a:solidFill>
            <a:srgbClr val="013A40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2743200" cy="548640"/>
          </a:xfrm>
          <a:prstGeom prst="rect">
            <a:avLst/>
          </a:prstGeom>
          <a:solidFill>
            <a:srgbClr val="013A40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58368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García (Alumno)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35440" y="1600200"/>
            <a:ext cx="2743200" cy="548640"/>
          </a:xfrm>
          <a:prstGeom prst="rect">
            <a:avLst/>
          </a:prstGeom>
          <a:solidFill>
            <a:srgbClr val="013A40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32688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Guía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59436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y objetivos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27432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5836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2148840"/>
            <a:ext cx="27432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93268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5943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 de datos y mockups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69748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58368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269748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32688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59436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aplicación (Flutter)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246120"/>
            <a:ext cx="27432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58368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3246120"/>
            <a:ext cx="27432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932688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5943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40080" y="37947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y de usabilidad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379476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5836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35440" y="379476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93268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59436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40080" y="43434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cierre del proyecto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4343400"/>
            <a:ext cx="27432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583680" y="4343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35440" y="4343400"/>
            <a:ext cx="2743200" cy="548640"/>
          </a:xfrm>
          <a:prstGeom prst="rect">
            <a:avLst/>
          </a:prstGeom>
          <a:solidFill>
            <a:srgbClr val="FAFAF8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9326880" y="4343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892040"/>
            <a:ext cx="5943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640080" y="48920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92240" y="489204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6583680" y="4892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235440" y="489204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9326880" y="4892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Responsable   A: Aprueba   C: Consultado   I: Informado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preliminar de base de datos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simplificado (SQLite)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289304"/>
          </a:xfrm>
          <a:prstGeom prst="rect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id_usuario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23113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5237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2651760" cy="1289304"/>
          </a:xfrm>
          <a:prstGeom prst="rect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2651760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1330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id_categoria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4256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4718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(ingreso/gasto)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377440"/>
            <a:ext cx="3017520" cy="2167128"/>
          </a:xfrm>
          <a:prstGeom prst="rect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206240" y="2377440"/>
            <a:ext cx="3017520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206240" y="23774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27614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id_transaccion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43400" y="30540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id_usuario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43400" y="33467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id_categoria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36393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43400" y="39319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43400" y="4224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1554480"/>
            <a:ext cx="3017520" cy="1581912"/>
          </a:xfrm>
          <a:prstGeom prst="rect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229600" y="1554480"/>
            <a:ext cx="3017520" cy="384048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8229600" y="15544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6760" y="1938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id_presupuesto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66760" y="22311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id_categoria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66760" y="2523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monto_limite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66760" y="28163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2199132"/>
            <a:ext cx="1005840" cy="1261872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3200400" y="4393692"/>
            <a:ext cx="10058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7223760" y="3461004"/>
            <a:ext cx="10058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3291840" y="18790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8907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31409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esquema preliminar de Fase 1 — sujeto a normalización y ajustes durante el diseño detallado (Fase 2).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 preliminares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hacer el sistema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22960" cy="6400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100584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movimiento (ingreso o gasto) con monto, fecha, categoría y descripción.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822960" cy="6400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2350008"/>
            <a:ext cx="100584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645920" y="2350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 y eliminar categorías personalizadas de ingresos/gastos.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822960" cy="6400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48640" y="309981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17320" y="3099816"/>
            <a:ext cx="100584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645920" y="3099816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 presupuesto mensual por categoría.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822960" cy="6400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48640" y="384962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17320" y="3849624"/>
            <a:ext cx="100584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645920" y="384962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alertas cuando el gasto se acerque o supere el presupuesto definido.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822960" cy="6400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48640" y="45994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17320" y="4599432"/>
            <a:ext cx="100584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1645920" y="45994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 visuales (gráficos por categoría y por mes).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822960" cy="64008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417320" y="5349240"/>
            <a:ext cx="100584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1645920" y="5349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respaldar/exportar los datos almacenados localmente.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no funcionales preliminares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debe comportarse el sistema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5544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simple y comprensible, usable sin capacitación previa por cualquier persona.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234440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registro y consulta deben responder en menos de 2 segundos.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offline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2918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debe funcionar sin conexión, con datos almacenados localmente (SQLite).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1605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financieros del usuario se almacenan localmente sin exponerse a terceros.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234440" y="5029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502920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en dispositivos Android 8.0 o superior.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Mockups tentativos (1/2)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inicio y registro de un movimiento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417320"/>
            <a:ext cx="2468880" cy="4846320"/>
          </a:xfrm>
          <a:prstGeom prst="roundRect">
            <a:avLst>
              <a:gd name="adj" fmla="val 814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271016" y="1554480"/>
            <a:ext cx="2304288" cy="4572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103120" y="149961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362456" y="15819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71016" y="1810512"/>
            <a:ext cx="2304288" cy="36576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380744" y="181051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finanzas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80744" y="2286000"/>
            <a:ext cx="2084832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499616" y="2340864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disponible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99616" y="25603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$450.000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0744" y="3090672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por categoría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80744" y="33649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31136" y="3392424"/>
            <a:ext cx="1207008" cy="118872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231136" y="3392424"/>
            <a:ext cx="844906" cy="11887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380744" y="36210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31136" y="3648456"/>
            <a:ext cx="1207008" cy="118872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2231136" y="3648456"/>
            <a:ext cx="543154" cy="1188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380744" y="387705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31136" y="3904488"/>
            <a:ext cx="1207008" cy="118872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2231136" y="3904488"/>
            <a:ext cx="362102" cy="1188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1380744" y="4178808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movimientos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80744" y="44256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40864" y="44256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-$18.500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80744" y="46634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40864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+$380.000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80744" y="49011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Bencina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40864" y="49011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-$12.000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0" y="1417320"/>
            <a:ext cx="2468880" cy="4846320"/>
          </a:xfrm>
          <a:prstGeom prst="roundRect">
            <a:avLst>
              <a:gd name="adj" fmla="val 814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757416" y="1554480"/>
            <a:ext cx="2304288" cy="4572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7589520" y="149961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848856" y="15819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57416" y="1810512"/>
            <a:ext cx="2304288" cy="36576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867144" y="181051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movimiento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67144" y="2313432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867144" y="2313432"/>
            <a:ext cx="101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36992" y="2313432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7936992" y="2313432"/>
            <a:ext cx="101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67144" y="2743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67144" y="292608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$ 12.000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867144" y="3291840"/>
            <a:ext cx="2084832" cy="0"/>
          </a:xfrm>
          <a:prstGeom prst="line">
            <a:avLst/>
          </a:prstGeom>
          <a:noFill/>
          <a:ln w="12700">
            <a:solidFill>
              <a:srgbClr val="D8D8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6867144" y="3456432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867144" y="3639312"/>
            <a:ext cx="2084832" cy="310896"/>
          </a:xfrm>
          <a:prstGeom prst="roundRect">
            <a:avLst>
              <a:gd name="adj" fmla="val 14706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6958584" y="363931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67144" y="4023360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67144" y="4206240"/>
            <a:ext cx="2084832" cy="310896"/>
          </a:xfrm>
          <a:prstGeom prst="roundRect">
            <a:avLst>
              <a:gd name="adj" fmla="val 14706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6958584" y="420624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26/08/2026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67144" y="4590288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67144" y="4773168"/>
            <a:ext cx="2084832" cy="310896"/>
          </a:xfrm>
          <a:prstGeom prst="roundRect">
            <a:avLst>
              <a:gd name="adj" fmla="val 14706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6958584" y="4773168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Bencina auto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67144" y="5294376"/>
            <a:ext cx="2084832" cy="347472"/>
          </a:xfrm>
          <a:prstGeom prst="roundRect">
            <a:avLst>
              <a:gd name="adj" fmla="val 21053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6867144" y="529437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Mockups tentativos (2/2)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por categoría y reportes mensuales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417320"/>
            <a:ext cx="2468880" cy="4846320"/>
          </a:xfrm>
          <a:prstGeom prst="roundRect">
            <a:avLst>
              <a:gd name="adj" fmla="val 814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271016" y="1554480"/>
            <a:ext cx="2304288" cy="4572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103120" y="149961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362456" y="15819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71016" y="1810512"/>
            <a:ext cx="2304288" cy="36576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380744" y="181051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80744" y="2340864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80744" y="2560320"/>
            <a:ext cx="2084832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1380744" y="2560320"/>
            <a:ext cx="1459382" cy="1280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380744" y="2724912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$70.000 / $100.000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80744" y="305409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80744" y="3273552"/>
            <a:ext cx="2084832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1380744" y="3273552"/>
            <a:ext cx="1563624" cy="128016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380744" y="3438144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$45.000 / $60.000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380744" y="3767328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80744" y="3986784"/>
            <a:ext cx="2084832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1380744" y="3986784"/>
            <a:ext cx="1459382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380744" y="415137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$28.000 / $40.000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80744" y="4480560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80744" y="4700016"/>
            <a:ext cx="2084832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1380744" y="4700016"/>
            <a:ext cx="1355141" cy="1280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1380744" y="4864608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$52.000 / $80.000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380744" y="5239512"/>
            <a:ext cx="2084832" cy="310896"/>
          </a:xfrm>
          <a:prstGeom prst="roundRect">
            <a:avLst>
              <a:gd name="adj" fmla="val 23529"/>
            </a:avLst>
          </a:prstGeom>
          <a:solidFill>
            <a:srgbClr val="E1F5EE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1380744" y="5239512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Nueva categoría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1417320"/>
            <a:ext cx="2468880" cy="4846320"/>
          </a:xfrm>
          <a:prstGeom prst="roundRect">
            <a:avLst>
              <a:gd name="adj" fmla="val 814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6757416" y="1554480"/>
            <a:ext cx="2304288" cy="4572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7589520" y="149961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848856" y="15819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57416" y="1810512"/>
            <a:ext cx="2304288" cy="365760"/>
          </a:xfrm>
          <a:prstGeom prst="rect">
            <a:avLst/>
          </a:prstGeom>
          <a:solidFill>
            <a:srgbClr val="013A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867144" y="181051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· Agosto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67144" y="2313432"/>
            <a:ext cx="2084832" cy="594360"/>
          </a:xfrm>
          <a:prstGeom prst="roundRect">
            <a:avLst>
              <a:gd name="adj" fmla="val 12308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958584" y="23591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58584" y="2542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$380.000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91856" y="23591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91856" y="2542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$195.000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67144" y="3044952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gastos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67144" y="334670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671816" y="3374136"/>
            <a:ext cx="1252728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7671816" y="3374136"/>
            <a:ext cx="450982" cy="1280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8604504" y="33284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67144" y="36393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671816" y="3666744"/>
            <a:ext cx="1252728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7671816" y="3666744"/>
            <a:ext cx="288127" cy="128016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8604504" y="36210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867144" y="393192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671816" y="3959352"/>
            <a:ext cx="1252728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Shape 48"/>
          <p:cNvSpPr/>
          <p:nvPr/>
        </p:nvSpPr>
        <p:spPr>
          <a:xfrm>
            <a:off x="7671816" y="3959352"/>
            <a:ext cx="338237" cy="12801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8604504" y="39136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67144" y="422452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671816" y="4251960"/>
            <a:ext cx="1252728" cy="128016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Shape 52"/>
          <p:cNvSpPr/>
          <p:nvPr/>
        </p:nvSpPr>
        <p:spPr>
          <a:xfrm>
            <a:off x="7671816" y="4251960"/>
            <a:ext cx="175382" cy="128016"/>
          </a:xfrm>
          <a:prstGeom prst="rect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8604504" y="4206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867144" y="4608576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ahorro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67144" y="4882896"/>
            <a:ext cx="2084832" cy="146304"/>
          </a:xfrm>
          <a:prstGeom prst="rect">
            <a:avLst/>
          </a:prstGeom>
          <a:solidFill>
            <a:srgbClr val="E6E6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8" name="Shape 56"/>
          <p:cNvSpPr/>
          <p:nvPr/>
        </p:nvSpPr>
        <p:spPr>
          <a:xfrm>
            <a:off x="6867144" y="4882896"/>
            <a:ext cx="1146658" cy="14630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6867144" y="5065776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$110.000 de $200.000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1524</Words>
  <Application>Microsoft Office PowerPoint</Application>
  <PresentationFormat>Panorámica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 IGNACIO GARCIA BARRIA</cp:lastModifiedBy>
  <cp:revision>2</cp:revision>
  <dcterms:created xsi:type="dcterms:W3CDTF">2026-08-28T20:20:38Z</dcterms:created>
  <dcterms:modified xsi:type="dcterms:W3CDTF">2026-08-31T21:49:09Z</dcterms:modified>
</cp:coreProperties>
</file>