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02809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663440"/>
            <a:ext cx="3657600" cy="365760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43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TÍTULO — APT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Móvil de Control de Finanzas Personales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Registra, clasifica y visualiza tus ingresos y gastos para tomar mejores decisiones financieras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27432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749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Alumno: </a:t>
            </a:r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Tomás García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09651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</a:t>
            </a:r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443984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Carrera: </a:t>
            </a:r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 — Portafolio de Título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892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Fase 1 · 10 minutos · Trabajo individual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Descripción del proyecto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y por qué es relevante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361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aplicación móvil que permite registrar ingresos y gastos (manualmente o detectados automáticamente desde notificaciones bancarias), clasificarlos por categoría, definir presupuestos y visualizar reportes.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35661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33375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2011680" y="33375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</a:t>
            </a:r>
            <a:endParaRPr lang="en-US" sz="1690" dirty="0"/>
          </a:p>
        </p:txBody>
      </p:sp>
      <p:sp>
        <p:nvSpPr>
          <p:cNvPr id="10" name="Text 8"/>
          <p:cNvSpPr/>
          <p:nvPr/>
        </p:nvSpPr>
        <p:spPr>
          <a:xfrm>
            <a:off x="777240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Relevancia social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438912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la mitad de las personas no lleva un registro claro de sus gastos, dificultando ahorrar y cumplir metas.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3108960"/>
            <a:ext cx="35661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06440" y="33375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5806440" y="33375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1690" dirty="0"/>
          </a:p>
        </p:txBody>
      </p:sp>
      <p:sp>
        <p:nvSpPr>
          <p:cNvPr id="15" name="Text 13"/>
          <p:cNvSpPr/>
          <p:nvPr/>
        </p:nvSpPr>
        <p:spPr>
          <a:xfrm>
            <a:off x="4572000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Relevancia personal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438912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de una necesidad propia: ya construí una versión manual en Excel — este proyecto la lleva a una app usable por cualquiera.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38160" y="3108960"/>
            <a:ext cx="35661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01200" y="33375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0" y="33375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690" dirty="0"/>
          </a:p>
        </p:txBody>
      </p:sp>
      <p:sp>
        <p:nvSpPr>
          <p:cNvPr id="20" name="Text 18"/>
          <p:cNvSpPr/>
          <p:nvPr/>
        </p:nvSpPr>
        <p:spPr>
          <a:xfrm>
            <a:off x="8366760" y="4023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Relevancia académica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438912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aplicar de forma integral competencias de desarrollo de software, modelado de datos y certificación.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 del perfil de egreso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cubre 3 competencias, cumpliendo el mínimo exigido por la Escuela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411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1965960"/>
            <a:ext cx="640080" cy="640080"/>
          </a:xfrm>
          <a:prstGeom prst="ellipse">
            <a:avLst/>
          </a:prstGeom>
          <a:solidFill>
            <a:srgbClr val="013A40"/>
          </a:solidFill>
          <a:ln/>
        </p:spPr>
      </p:sp>
      <p:sp>
        <p:nvSpPr>
          <p:cNvPr id="6" name="Text 4"/>
          <p:cNvSpPr/>
          <p:nvPr/>
        </p:nvSpPr>
        <p:spPr>
          <a:xfrm>
            <a:off x="201168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2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 de software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una solución móvil utilizando técnicas que sistematicen el proceso de desarrollo y mantenimiento, asegurando el logro de los objetivos.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566160" cy="411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806440" y="1965960"/>
            <a:ext cx="640080" cy="640080"/>
          </a:xfrm>
          <a:prstGeom prst="ellipse">
            <a:avLst/>
          </a:prstGeom>
          <a:solidFill>
            <a:srgbClr val="013A40"/>
          </a:solidFill>
          <a:ln/>
        </p:spPr>
      </p:sp>
      <p:sp>
        <p:nvSpPr>
          <p:cNvPr id="11" name="Text 9"/>
          <p:cNvSpPr/>
          <p:nvPr/>
        </p:nvSpPr>
        <p:spPr>
          <a:xfrm>
            <a:off x="580644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</a:t>
            </a:r>
            <a:endParaRPr lang="en-US" sz="1820" dirty="0"/>
          </a:p>
        </p:txBody>
      </p:sp>
      <p:sp>
        <p:nvSpPr>
          <p:cNvPr id="12" name="Text 10"/>
          <p:cNvSpPr/>
          <p:nvPr/>
        </p:nvSpPr>
        <p:spPr>
          <a:xfrm>
            <a:off x="457200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datos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3832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un modelo de datos para soportar el registro de ingresos, gastos y categorías, de acuerdo a un diseño escalable.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566160" cy="411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0" y="1965960"/>
            <a:ext cx="640080" cy="640080"/>
          </a:xfrm>
          <a:prstGeom prst="ellipse">
            <a:avLst/>
          </a:prstGeom>
          <a:solidFill>
            <a:srgbClr val="013A40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820" dirty="0"/>
          </a:p>
        </p:txBody>
      </p:sp>
      <p:sp>
        <p:nvSpPr>
          <p:cNvPr id="17" name="Text 15"/>
          <p:cNvSpPr/>
          <p:nvPr/>
        </p:nvSpPr>
        <p:spPr>
          <a:xfrm>
            <a:off x="836676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Certificación y pruebas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33832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pruebas de certificación tanto de la app como de los procesos, utilizando buenas prácticas de la industria.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Intereses profesionales y factibilidad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proyecto y por qué es realizable en el semestre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976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Intereses profesionales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4937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y bases de datos: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interés profesional — este proyecto exige modelar bien los datos financieros.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de software: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aplicado ahora a un contexto cercano y cotidiano.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personal: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construí mi propio sistema de finanzas en Excel — conozco el dominio de primera mano.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486400" cy="429768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8" name="Text 6"/>
          <p:cNvSpPr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55080" y="2148840"/>
            <a:ext cx="50292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acotado (MVP):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categorías, presupuesto, reportes y detección automática básica (1-2 bancos).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semanas, trabajo individual compatible con práctica profesional y trabajo part-time.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gratuito (Flutter, SQLite, GitHub) sin costos de infraestructura.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técnico: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— no depende de APIs bancarias externas ni credenciales del usuario.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109728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1627632"/>
            <a:ext cx="10424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una aplicación móvil que permita a los usuarios registrar, clasificar y visualizar sus ingresos y gastos, para facilitar una mejor gestión de sus finanzas personales.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274320" cy="2743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2871216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 modelo de datos que soporte el registro de ingresos, gastos y categorías.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438144"/>
            <a:ext cx="274320" cy="2743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4381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383280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el registro y clasificación de movimientos financieros (predefinidos y personalizables).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950208"/>
            <a:ext cx="274320" cy="2743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895344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presupuestos y metas de ahorro con alertas cuando se acerquen al límite.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62272"/>
            <a:ext cx="274320" cy="2743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4622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4407408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automáticamente gastos desde notificaciones bancarias, con confirmación del usuario.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974336"/>
            <a:ext cx="274320" cy="2743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9743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919472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reportes visuales (gráficos por categoría, por mes) para el usuario.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486400"/>
            <a:ext cx="274320" cy="2743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54864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60120" y="5431536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la aplicación mediante pruebas funcionales y de usabilidad.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y herramientas de trabajo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Ágil (Kanban personal) + stack técnico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97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Ágil — Kanban personal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Categoría: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Ágil (dentro del espectro Scrum / Ágil / Tradicional).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no Scrum completo: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ser trabajo individual, no aplican roles ni ceremonias de equipo (daily, retro grupal).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elegido: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Kanban con iteraciones quincenales, backlog priorizado y revisión personal de avance cada 2 semanas.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Pertinencia: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flexibilidad para reordenar tareas según disponibilidad real, manteniendo visibilidad continua del avance a lo largo de las 5 fases del cronograma (17 semanas).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486400" cy="42976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6"/>
          <p:cNvSpPr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de trabajo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355080" y="21945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/ Framework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03920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 + Flutter (multiplataforma, ideal para desarrollo individual ágil).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724912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03920" y="2724912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embebido (paquete sqflite).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55264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automática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03920" y="3255264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NotificationListenerService (Android) + regex por banco.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3785616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versiones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03920" y="3785616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 (repositorio individual, commits por tarea).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55080" y="431596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tareas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03920" y="4315968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Projects (tablero Kanban integrado al repo).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48463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03920" y="48463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 / Visual Studio Code.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 — Cronograma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semanas · 5 fases · Responsable: Tomás García (trabajo individual) · Ver Gantt adjunto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212848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0876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892808"/>
            <a:ext cx="2212848" cy="41605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9933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1–5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y Diseño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6060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Alcance y objetivos (03–07 ago)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6928" y="3264408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Requisitos func./no func. (10–14 ago)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66928" y="3922776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Modelo de datos y mockups (17–21 ago)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6928" y="4581144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Metodología y plan (24–26 ago)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5239512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Presentación avance (31 ago)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0" y="1508760"/>
            <a:ext cx="2212848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150876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743200" y="1892808"/>
            <a:ext cx="2212848" cy="41605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Text 15"/>
          <p:cNvSpPr/>
          <p:nvPr/>
        </p:nvSpPr>
        <p:spPr>
          <a:xfrm>
            <a:off x="2852928" y="1975104"/>
            <a:ext cx="19933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6–8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52928" y="219456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Base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52928" y="26060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Entorno Flutter + SQLite (07–09 sep)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852928" y="3264408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Estructura de base de datos (09–11 sep)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852928" y="3922776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Navegación base de la app (14–18 sep)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852928" y="4581144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Validación con docente guía (21–25 sep)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029200" y="1508760"/>
            <a:ext cx="2212848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0" y="150876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0" y="1892808"/>
            <a:ext cx="2212848" cy="41605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/>
          <p:nvPr/>
        </p:nvSpPr>
        <p:spPr>
          <a:xfrm>
            <a:off x="5138928" y="1975104"/>
            <a:ext cx="19933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9–13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138928" y="219456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Core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38928" y="26060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Registro y clasificación (28 sep–02 oct)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138928" y="3264408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Gestión de categorías (05–09 oct)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138928" y="3922776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Detección automática (notificaciones) (12–20 oct)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138928" y="4581144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Presupuestos y alertas (20–28 oct)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315200" y="1508760"/>
            <a:ext cx="2212848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0" y="150876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7315200" y="1892808"/>
            <a:ext cx="2212848" cy="41605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5" name="Text 33"/>
          <p:cNvSpPr/>
          <p:nvPr/>
        </p:nvSpPr>
        <p:spPr>
          <a:xfrm>
            <a:off x="7424928" y="1975104"/>
            <a:ext cx="19933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14–15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424928" y="219456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y Pruebas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424928" y="26060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Reportes visuales (02–04 nov)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424928" y="3264408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Pruebas funcionales (04–06 nov)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424928" y="3922776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Pruebas de usabilidad (09–11 nov)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424928" y="4581144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Corrección de observaciones (11–13 nov)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9601200" y="1508760"/>
            <a:ext cx="2212848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42" name="Text 40"/>
          <p:cNvSpPr/>
          <p:nvPr/>
        </p:nvSpPr>
        <p:spPr>
          <a:xfrm>
            <a:off x="9601200" y="150876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5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9601200" y="1892808"/>
            <a:ext cx="2212848" cy="41605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4" name="Text 42"/>
          <p:cNvSpPr/>
          <p:nvPr/>
        </p:nvSpPr>
        <p:spPr>
          <a:xfrm>
            <a:off x="9710928" y="1975104"/>
            <a:ext cx="19933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16–17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710928" y="219456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710928" y="26060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Documentación de cierre (16–18 nov)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710928" y="3264408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Manual de usuario (18–20 nov)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9710928" y="3922776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Presentación final (23–25 nov)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710928" y="4581144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Entrega del proyecto (27 nov)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Evidencias esperadas y justificación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325880" y="1554480"/>
            <a:ext cx="100584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58191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de planificación/diseño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19202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Justifican decisiones de arquitectura, modelo de datos y mockups antes de programar.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</a:t>
            </a:r>
            <a:endParaRPr lang="en-US" sz="1560" dirty="0"/>
          </a:p>
        </p:txBody>
      </p:sp>
      <p:sp>
        <p:nvSpPr>
          <p:cNvPr id="10" name="Shape 8"/>
          <p:cNvSpPr/>
          <p:nvPr/>
        </p:nvSpPr>
        <p:spPr>
          <a:xfrm>
            <a:off x="1325880" y="2651760"/>
            <a:ext cx="100584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9"/>
          <p:cNvSpPr/>
          <p:nvPr/>
        </p:nvSpPr>
        <p:spPr>
          <a:xfrm>
            <a:off x="1554480" y="267919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de control y pruebas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30175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Evidencian que la app cumple los requisitos funcionales y de usabilidad definidos.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794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1325880" y="3749040"/>
            <a:ext cx="100584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377647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de cierre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41148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proyecto, aprendizajes y estado final entregado.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9204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892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1560" dirty="0"/>
          </a:p>
        </p:txBody>
      </p:sp>
      <p:sp>
        <p:nvSpPr>
          <p:cNvPr id="20" name="Shape 18"/>
          <p:cNvSpPr/>
          <p:nvPr/>
        </p:nvSpPr>
        <p:spPr>
          <a:xfrm>
            <a:off x="1325880" y="4846320"/>
            <a:ext cx="100584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487375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funcional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54480" y="52120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+ base de datos + reportes + detección automática, evidencia central del logro de los objetivos.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RACI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individual: T. García concentra R/A; el docente guía participa como C/I en hitos clave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943600" cy="548640"/>
          </a:xfrm>
          <a:prstGeom prst="rect">
            <a:avLst/>
          </a:prstGeom>
          <a:solidFill>
            <a:srgbClr val="013A40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002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92240" y="1600200"/>
            <a:ext cx="2743200" cy="548640"/>
          </a:xfrm>
          <a:prstGeom prst="rect">
            <a:avLst/>
          </a:prstGeom>
          <a:solidFill>
            <a:srgbClr val="013A40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16002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García (Alumno)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235440" y="1600200"/>
            <a:ext cx="2743200" cy="548640"/>
          </a:xfrm>
          <a:prstGeom prst="rect">
            <a:avLst/>
          </a:prstGeom>
          <a:solidFill>
            <a:srgbClr val="013A40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0" y="16002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Guía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48840"/>
            <a:ext cx="59436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48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proyecto y objetivos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92240" y="2148840"/>
            <a:ext cx="27432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488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35440" y="2148840"/>
            <a:ext cx="27432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0" y="21488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697480"/>
            <a:ext cx="5943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base de datos y mockups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2697480"/>
            <a:ext cx="2743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2697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235440" y="2697480"/>
            <a:ext cx="2743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0" y="2697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246120"/>
            <a:ext cx="59436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24612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de la aplicación (Flutter)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92240" y="3246120"/>
            <a:ext cx="27432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3246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35440" y="3246120"/>
            <a:ext cx="27432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0" y="3246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3794760"/>
            <a:ext cx="5943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79476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funcionales y de usabilidad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92240" y="3794760"/>
            <a:ext cx="2743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37947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235440" y="3794760"/>
            <a:ext cx="2743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0" y="37947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343400"/>
            <a:ext cx="59436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3434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y cierre del proyecto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92240" y="4343400"/>
            <a:ext cx="27432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43434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235440" y="4343400"/>
            <a:ext cx="2743200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26880" y="43434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4892040"/>
            <a:ext cx="5943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8920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final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492240" y="4892040"/>
            <a:ext cx="2743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0" y="4892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A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235440" y="4892040"/>
            <a:ext cx="2743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0" y="4892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48640" y="5669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Responsable   A: Aprueba   C: Consultado   I: Informado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preliminar de base de datos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relacional simplificado (SQLite)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468880" cy="1207008"/>
          </a:xfrm>
          <a:prstGeom prst="rect">
            <a:avLst/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08760"/>
            <a:ext cx="2468880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8928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 id_usuario</a:t>
            </a:r>
            <a:endParaRPr lang="en-US" sz="970" dirty="0"/>
          </a:p>
        </p:txBody>
      </p:sp>
      <p:sp>
        <p:nvSpPr>
          <p:cNvPr id="8" name="Text 6"/>
          <p:cNvSpPr/>
          <p:nvPr/>
        </p:nvSpPr>
        <p:spPr>
          <a:xfrm>
            <a:off x="594360" y="2167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594360" y="244144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7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2468880" cy="1207008"/>
          </a:xfrm>
          <a:prstGeom prst="rect">
            <a:avLst/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3657600"/>
            <a:ext cx="2468880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5760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404164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 id_categoria</a:t>
            </a:r>
            <a:endParaRPr lang="en-US" sz="970" dirty="0"/>
          </a:p>
        </p:txBody>
      </p:sp>
      <p:sp>
        <p:nvSpPr>
          <p:cNvPr id="14" name="Text 12"/>
          <p:cNvSpPr/>
          <p:nvPr/>
        </p:nvSpPr>
        <p:spPr>
          <a:xfrm>
            <a:off x="594360" y="43159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594360" y="45902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(ingreso/gasto)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3931920" y="2148840"/>
            <a:ext cx="3200400" cy="2578608"/>
          </a:xfrm>
          <a:prstGeom prst="rect">
            <a:avLst/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31920" y="2148840"/>
            <a:ext cx="3200400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18" name="Text 16"/>
          <p:cNvSpPr/>
          <p:nvPr/>
        </p:nvSpPr>
        <p:spPr>
          <a:xfrm>
            <a:off x="3931920" y="2148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069080" y="253288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 id_transaccion</a:t>
            </a:r>
            <a:endParaRPr lang="en-US" sz="970" dirty="0"/>
          </a:p>
        </p:txBody>
      </p:sp>
      <p:sp>
        <p:nvSpPr>
          <p:cNvPr id="20" name="Text 18"/>
          <p:cNvSpPr/>
          <p:nvPr/>
        </p:nvSpPr>
        <p:spPr>
          <a:xfrm>
            <a:off x="4069080" y="280720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 id_usuario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4069080" y="308152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 id_categoria</a:t>
            </a:r>
            <a:endParaRPr lang="en-US" sz="970" dirty="0"/>
          </a:p>
        </p:txBody>
      </p:sp>
      <p:sp>
        <p:nvSpPr>
          <p:cNvPr id="22" name="Text 20"/>
          <p:cNvSpPr/>
          <p:nvPr/>
        </p:nvSpPr>
        <p:spPr>
          <a:xfrm>
            <a:off x="4069080" y="335584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970" dirty="0"/>
          </a:p>
        </p:txBody>
      </p:sp>
      <p:sp>
        <p:nvSpPr>
          <p:cNvPr id="23" name="Text 21"/>
          <p:cNvSpPr/>
          <p:nvPr/>
        </p:nvSpPr>
        <p:spPr>
          <a:xfrm>
            <a:off x="4069080" y="363016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70" dirty="0"/>
          </a:p>
        </p:txBody>
      </p:sp>
      <p:sp>
        <p:nvSpPr>
          <p:cNvPr id="24" name="Text 22"/>
          <p:cNvSpPr/>
          <p:nvPr/>
        </p:nvSpPr>
        <p:spPr>
          <a:xfrm>
            <a:off x="4069080" y="390448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</a:t>
            </a:r>
            <a:endParaRPr lang="en-US" sz="970" dirty="0"/>
          </a:p>
        </p:txBody>
      </p:sp>
      <p:sp>
        <p:nvSpPr>
          <p:cNvPr id="25" name="Text 23"/>
          <p:cNvSpPr/>
          <p:nvPr/>
        </p:nvSpPr>
        <p:spPr>
          <a:xfrm>
            <a:off x="4069080" y="417880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(manual/automático)</a:t>
            </a:r>
            <a:endParaRPr lang="en-US" sz="970" dirty="0"/>
          </a:p>
        </p:txBody>
      </p:sp>
      <p:sp>
        <p:nvSpPr>
          <p:cNvPr id="26" name="Text 24"/>
          <p:cNvSpPr/>
          <p:nvPr/>
        </p:nvSpPr>
        <p:spPr>
          <a:xfrm>
            <a:off x="4069080" y="445312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(confirmado/pendiente)</a:t>
            </a:r>
            <a:endParaRPr lang="en-US" sz="970" dirty="0"/>
          </a:p>
        </p:txBody>
      </p:sp>
      <p:sp>
        <p:nvSpPr>
          <p:cNvPr id="27" name="Shape 25"/>
          <p:cNvSpPr/>
          <p:nvPr/>
        </p:nvSpPr>
        <p:spPr>
          <a:xfrm>
            <a:off x="8321040" y="1508760"/>
            <a:ext cx="3017520" cy="1481328"/>
          </a:xfrm>
          <a:prstGeom prst="rect">
            <a:avLst/>
          </a:prstGeom>
          <a:solidFill>
            <a:srgbClr val="FFFFFF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1040" y="1508760"/>
            <a:ext cx="3017520" cy="384048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29" name="Text 27"/>
          <p:cNvSpPr/>
          <p:nvPr/>
        </p:nvSpPr>
        <p:spPr>
          <a:xfrm>
            <a:off x="8321040" y="150876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458200" y="1892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 id_presupuesto</a:t>
            </a: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8458200" y="21671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 id_categoria</a:t>
            </a:r>
            <a:endParaRPr lang="en-US" sz="970" dirty="0"/>
          </a:p>
        </p:txBody>
      </p:sp>
      <p:sp>
        <p:nvSpPr>
          <p:cNvPr id="32" name="Text 30"/>
          <p:cNvSpPr/>
          <p:nvPr/>
        </p:nvSpPr>
        <p:spPr>
          <a:xfrm>
            <a:off x="8458200" y="24414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monto_limite</a:t>
            </a:r>
            <a:endParaRPr lang="en-US" sz="970" dirty="0"/>
          </a:p>
        </p:txBody>
      </p:sp>
      <p:sp>
        <p:nvSpPr>
          <p:cNvPr id="33" name="Text 31"/>
          <p:cNvSpPr/>
          <p:nvPr/>
        </p:nvSpPr>
        <p:spPr>
          <a:xfrm>
            <a:off x="8458200" y="27157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endParaRPr lang="en-US" sz="970" dirty="0"/>
          </a:p>
        </p:txBody>
      </p:sp>
      <p:sp>
        <p:nvSpPr>
          <p:cNvPr id="34" name="Shape 32"/>
          <p:cNvSpPr/>
          <p:nvPr/>
        </p:nvSpPr>
        <p:spPr>
          <a:xfrm>
            <a:off x="2926080" y="2112264"/>
            <a:ext cx="1005840" cy="132588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4261104"/>
            <a:ext cx="1005840" cy="-82296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32320" y="3438144"/>
            <a:ext cx="1188720" cy="-1380744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0" y="17922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017520" y="375818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223760" y="31181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los campos origen/estado permiten distinguir movimientos ingresados manualmente de los detectados automáticamente desde notificaciones bancarias, pendientes de confirmación del usuario.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preliminares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debe hacer el sistema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822960" cy="603504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36192"/>
            <a:ext cx="822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417320" y="1536192"/>
            <a:ext cx="1005840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645920" y="1536192"/>
            <a:ext cx="9601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un movimiento (ingreso o gasto) con monto, fecha, categoría y descripción.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231136"/>
            <a:ext cx="822960" cy="603504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31136"/>
            <a:ext cx="822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417320" y="2231136"/>
            <a:ext cx="1005840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645920" y="2231136"/>
            <a:ext cx="9601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editar y eliminar categorías personalizadas de ingresos/gastos.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822960" cy="603504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26080"/>
            <a:ext cx="822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417320" y="2926080"/>
            <a:ext cx="1005840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1645920" y="2926080"/>
            <a:ext cx="9601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un presupuesto mensual por categoría.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621024"/>
            <a:ext cx="822960" cy="603504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621024"/>
            <a:ext cx="822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417320" y="3621024"/>
            <a:ext cx="1005840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1645920" y="3621024"/>
            <a:ext cx="9601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alertas cuando el gasto se acerque o supere el presupuesto definido.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315968"/>
            <a:ext cx="822960" cy="603504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315968"/>
            <a:ext cx="822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RF5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417320" y="4315968"/>
            <a:ext cx="1005840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1645920" y="4315968"/>
            <a:ext cx="9601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automáticamente cargos desde notificaciones bancarias y solicitar confirmación del usuario.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010912"/>
            <a:ext cx="822960" cy="603504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010912"/>
            <a:ext cx="822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RF6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417320" y="5010912"/>
            <a:ext cx="1005840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645920" y="5010912"/>
            <a:ext cx="9601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reportes visuales (gráficos por categoría y por mes).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705856"/>
            <a:ext cx="822960" cy="603504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5705856"/>
            <a:ext cx="822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RF7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417320" y="5705856"/>
            <a:ext cx="1005840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645920" y="5705856"/>
            <a:ext cx="9601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respaldar/exportar los datos almacenados localmente.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no funcionales preliminares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debe comportarse el sistema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430" dirty="0"/>
          </a:p>
        </p:txBody>
      </p:sp>
      <p:sp>
        <p:nvSpPr>
          <p:cNvPr id="6" name="Text 4"/>
          <p:cNvSpPr/>
          <p:nvPr/>
        </p:nvSpPr>
        <p:spPr>
          <a:xfrm>
            <a:off x="1234440" y="15087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50876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simple y comprensible, usable sin capacitación previa por cualquier persona.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430" dirty="0"/>
          </a:p>
        </p:txBody>
      </p:sp>
      <p:sp>
        <p:nvSpPr>
          <p:cNvPr id="10" name="Text 8"/>
          <p:cNvSpPr/>
          <p:nvPr/>
        </p:nvSpPr>
        <p:spPr>
          <a:xfrm>
            <a:off x="1234440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237744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registro y consulta deben responder en menos de 2 segundos.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📴</a:t>
            </a:r>
            <a:endParaRPr lang="en-US" sz="1430" dirty="0"/>
          </a:p>
        </p:txBody>
      </p:sp>
      <p:sp>
        <p:nvSpPr>
          <p:cNvPr id="14" name="Text 12"/>
          <p:cNvSpPr/>
          <p:nvPr/>
        </p:nvSpPr>
        <p:spPr>
          <a:xfrm>
            <a:off x="1234440" y="32461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offline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324612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debe funcionar sin conexión, con datos almacenados localmente (SQLite).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430" dirty="0"/>
          </a:p>
        </p:txBody>
      </p:sp>
      <p:sp>
        <p:nvSpPr>
          <p:cNvPr id="18" name="Text 16"/>
          <p:cNvSpPr/>
          <p:nvPr/>
        </p:nvSpPr>
        <p:spPr>
          <a:xfrm>
            <a:off x="1234440" y="41148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privacidad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0" y="411480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procesamiento de notificaciones bancarias es 100% local; los datos no se envían a servidores externos.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029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1430" dirty="0"/>
          </a:p>
        </p:txBody>
      </p:sp>
      <p:sp>
        <p:nvSpPr>
          <p:cNvPr id="22" name="Text 20"/>
          <p:cNvSpPr/>
          <p:nvPr/>
        </p:nvSpPr>
        <p:spPr>
          <a:xfrm>
            <a:off x="1234440" y="49834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0" y="4983480"/>
            <a:ext cx="7406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en dispositivos Android 8.0 o superior.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Mockups tentativos (1/2)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inicio y registro de un movimiento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88720" y="1417320"/>
            <a:ext cx="2468880" cy="4846320"/>
          </a:xfrm>
          <a:prstGeom prst="roundRect">
            <a:avLst>
              <a:gd name="adj" fmla="val 8148"/>
            </a:avLst>
          </a:prstGeom>
          <a:solidFill>
            <a:srgbClr val="13293D"/>
          </a:solidFill>
          <a:ln/>
        </p:spPr>
      </p:sp>
      <p:sp>
        <p:nvSpPr>
          <p:cNvPr id="5" name="Shape 3"/>
          <p:cNvSpPr/>
          <p:nvPr/>
        </p:nvSpPr>
        <p:spPr>
          <a:xfrm>
            <a:off x="1271016" y="1554480"/>
            <a:ext cx="2304288" cy="4572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2103120" y="1499616"/>
            <a:ext cx="640080" cy="9144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/>
        </p:spPr>
      </p:sp>
      <p:sp>
        <p:nvSpPr>
          <p:cNvPr id="7" name="Text 5"/>
          <p:cNvSpPr/>
          <p:nvPr/>
        </p:nvSpPr>
        <p:spPr>
          <a:xfrm>
            <a:off x="1362456" y="158191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9:41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271016" y="1810512"/>
            <a:ext cx="2304288" cy="36576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9" name="Text 7"/>
          <p:cNvSpPr/>
          <p:nvPr/>
        </p:nvSpPr>
        <p:spPr>
          <a:xfrm>
            <a:off x="1380744" y="181051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finanzas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380744" y="2286000"/>
            <a:ext cx="2084832" cy="685800"/>
          </a:xfrm>
          <a:prstGeom prst="roundRect">
            <a:avLst>
              <a:gd name="adj" fmla="val 10667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1499616" y="2340864"/>
            <a:ext cx="18470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disponible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499616" y="2560320"/>
            <a:ext cx="1847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$450.000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0744" y="3090672"/>
            <a:ext cx="20848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por categoría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380744" y="336499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Comida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231136" y="3392424"/>
            <a:ext cx="1207008" cy="118872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16" name="Shape 14"/>
          <p:cNvSpPr/>
          <p:nvPr/>
        </p:nvSpPr>
        <p:spPr>
          <a:xfrm>
            <a:off x="2231136" y="3392424"/>
            <a:ext cx="844906" cy="11887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1380744" y="3621024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231136" y="3648456"/>
            <a:ext cx="1207008" cy="118872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19" name="Shape 17"/>
          <p:cNvSpPr/>
          <p:nvPr/>
        </p:nvSpPr>
        <p:spPr>
          <a:xfrm>
            <a:off x="2231136" y="3648456"/>
            <a:ext cx="543154" cy="11887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1380744" y="387705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Ocio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231136" y="3904488"/>
            <a:ext cx="1207008" cy="118872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22" name="Shape 20"/>
          <p:cNvSpPr/>
          <p:nvPr/>
        </p:nvSpPr>
        <p:spPr>
          <a:xfrm>
            <a:off x="2231136" y="3904488"/>
            <a:ext cx="362102" cy="1188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1380744" y="4178808"/>
            <a:ext cx="20848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movimientos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380744" y="442569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Supermercado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340864" y="44256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-$18.500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380744" y="466344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Sueldo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340864" y="466344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+$380.000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380744" y="4901184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Bencina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340864" y="490118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-$12.000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675120" y="1417320"/>
            <a:ext cx="2468880" cy="4846320"/>
          </a:xfrm>
          <a:prstGeom prst="roundRect">
            <a:avLst>
              <a:gd name="adj" fmla="val 8148"/>
            </a:avLst>
          </a:prstGeom>
          <a:solidFill>
            <a:srgbClr val="13293D"/>
          </a:solidFill>
          <a:ln/>
        </p:spPr>
      </p:sp>
      <p:sp>
        <p:nvSpPr>
          <p:cNvPr id="31" name="Shape 29"/>
          <p:cNvSpPr/>
          <p:nvPr/>
        </p:nvSpPr>
        <p:spPr>
          <a:xfrm>
            <a:off x="6757416" y="1554480"/>
            <a:ext cx="2304288" cy="4572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7589520" y="1499616"/>
            <a:ext cx="640080" cy="9144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/>
        </p:spPr>
      </p:sp>
      <p:sp>
        <p:nvSpPr>
          <p:cNvPr id="33" name="Text 31"/>
          <p:cNvSpPr/>
          <p:nvPr/>
        </p:nvSpPr>
        <p:spPr>
          <a:xfrm>
            <a:off x="6848856" y="158191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9:41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757416" y="1810512"/>
            <a:ext cx="2304288" cy="36576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35" name="Text 33"/>
          <p:cNvSpPr/>
          <p:nvPr/>
        </p:nvSpPr>
        <p:spPr>
          <a:xfrm>
            <a:off x="6867144" y="181051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movimiento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867144" y="2313432"/>
            <a:ext cx="1014984" cy="29260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6867144" y="2313432"/>
            <a:ext cx="10149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936992" y="2313432"/>
            <a:ext cx="1014984" cy="292608"/>
          </a:xfrm>
          <a:prstGeom prst="roundRect">
            <a:avLst>
              <a:gd name="adj" fmla="val 50000"/>
            </a:avLst>
          </a:prstGeom>
          <a:solidFill>
            <a:srgbClr val="E6E6E0"/>
          </a:solidFill>
          <a:ln/>
        </p:spPr>
      </p:sp>
      <p:sp>
        <p:nvSpPr>
          <p:cNvPr id="39" name="Text 37"/>
          <p:cNvSpPr/>
          <p:nvPr/>
        </p:nvSpPr>
        <p:spPr>
          <a:xfrm>
            <a:off x="7936992" y="2313432"/>
            <a:ext cx="10149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867144" y="27432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867144" y="2926080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$ 12.000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867144" y="3291840"/>
            <a:ext cx="2084832" cy="0"/>
          </a:xfrm>
          <a:prstGeom prst="line">
            <a:avLst/>
          </a:prstGeom>
          <a:noFill/>
          <a:ln w="12700">
            <a:solidFill>
              <a:srgbClr val="D8D8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67144" y="3456432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867144" y="3639312"/>
            <a:ext cx="2084832" cy="310896"/>
          </a:xfrm>
          <a:prstGeom prst="roundRect">
            <a:avLst>
              <a:gd name="adj" fmla="val 14706"/>
            </a:avLst>
          </a:prstGeom>
          <a:solidFill>
            <a:srgbClr val="F1EFE8"/>
          </a:solidFill>
          <a:ln/>
        </p:spPr>
      </p:sp>
      <p:sp>
        <p:nvSpPr>
          <p:cNvPr id="45" name="Text 43"/>
          <p:cNvSpPr/>
          <p:nvPr/>
        </p:nvSpPr>
        <p:spPr>
          <a:xfrm>
            <a:off x="6958584" y="3639312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867144" y="4023360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867144" y="4206240"/>
            <a:ext cx="2084832" cy="310896"/>
          </a:xfrm>
          <a:prstGeom prst="roundRect">
            <a:avLst>
              <a:gd name="adj" fmla="val 14706"/>
            </a:avLst>
          </a:prstGeom>
          <a:solidFill>
            <a:srgbClr val="F1EFE8"/>
          </a:solidFill>
          <a:ln/>
        </p:spPr>
      </p:sp>
      <p:sp>
        <p:nvSpPr>
          <p:cNvPr id="48" name="Text 46"/>
          <p:cNvSpPr/>
          <p:nvPr/>
        </p:nvSpPr>
        <p:spPr>
          <a:xfrm>
            <a:off x="6958584" y="4206240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26/08/2026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867144" y="4590288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867144" y="4773168"/>
            <a:ext cx="2084832" cy="310896"/>
          </a:xfrm>
          <a:prstGeom prst="roundRect">
            <a:avLst>
              <a:gd name="adj" fmla="val 14706"/>
            </a:avLst>
          </a:prstGeom>
          <a:solidFill>
            <a:srgbClr val="F1EFE8"/>
          </a:solidFill>
          <a:ln/>
        </p:spPr>
      </p:sp>
      <p:sp>
        <p:nvSpPr>
          <p:cNvPr id="51" name="Text 49"/>
          <p:cNvSpPr/>
          <p:nvPr/>
        </p:nvSpPr>
        <p:spPr>
          <a:xfrm>
            <a:off x="6958584" y="4773168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Bencina auto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67144" y="5294376"/>
            <a:ext cx="2084832" cy="347472"/>
          </a:xfrm>
          <a:prstGeom prst="roundRect">
            <a:avLst>
              <a:gd name="adj" fmla="val 21053"/>
            </a:avLst>
          </a:prstGeom>
          <a:solidFill>
            <a:srgbClr val="00A896"/>
          </a:solidFill>
          <a:ln/>
        </p:spPr>
      </p:sp>
      <p:sp>
        <p:nvSpPr>
          <p:cNvPr id="53" name="Text 51"/>
          <p:cNvSpPr/>
          <p:nvPr/>
        </p:nvSpPr>
        <p:spPr>
          <a:xfrm>
            <a:off x="6867144" y="5294376"/>
            <a:ext cx="20848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Mockups tentativos (2/2)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Presupuestos por categoría y reportes mensuales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88720" y="1417320"/>
            <a:ext cx="2468880" cy="4846320"/>
          </a:xfrm>
          <a:prstGeom prst="roundRect">
            <a:avLst>
              <a:gd name="adj" fmla="val 8148"/>
            </a:avLst>
          </a:prstGeom>
          <a:solidFill>
            <a:srgbClr val="13293D"/>
          </a:solidFill>
          <a:ln/>
        </p:spPr>
      </p:sp>
      <p:sp>
        <p:nvSpPr>
          <p:cNvPr id="5" name="Shape 3"/>
          <p:cNvSpPr/>
          <p:nvPr/>
        </p:nvSpPr>
        <p:spPr>
          <a:xfrm>
            <a:off x="1271016" y="1554480"/>
            <a:ext cx="2304288" cy="4572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2103120" y="1499616"/>
            <a:ext cx="640080" cy="9144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/>
        </p:spPr>
      </p:sp>
      <p:sp>
        <p:nvSpPr>
          <p:cNvPr id="7" name="Text 5"/>
          <p:cNvSpPr/>
          <p:nvPr/>
        </p:nvSpPr>
        <p:spPr>
          <a:xfrm>
            <a:off x="1362456" y="158191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9:41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271016" y="1810512"/>
            <a:ext cx="2304288" cy="36576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9" name="Text 7"/>
          <p:cNvSpPr/>
          <p:nvPr/>
        </p:nvSpPr>
        <p:spPr>
          <a:xfrm>
            <a:off x="1380744" y="181051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380744" y="2340864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Comida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380744" y="2560320"/>
            <a:ext cx="2084832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1380744" y="2560320"/>
            <a:ext cx="1459382" cy="12801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1380744" y="2724912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$70.000 / $100.000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380744" y="3054096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380744" y="3273552"/>
            <a:ext cx="2084832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16" name="Shape 14"/>
          <p:cNvSpPr/>
          <p:nvPr/>
        </p:nvSpPr>
        <p:spPr>
          <a:xfrm>
            <a:off x="1380744" y="3273552"/>
            <a:ext cx="1563624" cy="128016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1380744" y="3438144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$45.000 / $60.000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380744" y="3767328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Ocio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380744" y="3986784"/>
            <a:ext cx="2084832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20" name="Shape 18"/>
          <p:cNvSpPr/>
          <p:nvPr/>
        </p:nvSpPr>
        <p:spPr>
          <a:xfrm>
            <a:off x="1380744" y="3986784"/>
            <a:ext cx="1459382" cy="12801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1380744" y="4151376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$28.000 / $40.000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380744" y="4480560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380744" y="4700016"/>
            <a:ext cx="2084832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24" name="Shape 22"/>
          <p:cNvSpPr/>
          <p:nvPr/>
        </p:nvSpPr>
        <p:spPr>
          <a:xfrm>
            <a:off x="1380744" y="4700016"/>
            <a:ext cx="1355141" cy="12801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5" name="Text 23"/>
          <p:cNvSpPr/>
          <p:nvPr/>
        </p:nvSpPr>
        <p:spPr>
          <a:xfrm>
            <a:off x="1380744" y="4864608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$52.000 / $80.000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380744" y="5239512"/>
            <a:ext cx="2084832" cy="310896"/>
          </a:xfrm>
          <a:prstGeom prst="roundRect">
            <a:avLst>
              <a:gd name="adj" fmla="val 23529"/>
            </a:avLst>
          </a:prstGeom>
          <a:solidFill>
            <a:srgbClr val="E1F5EE"/>
          </a:solidFill>
          <a:ln w="9525">
            <a:solidFill>
              <a:srgbClr val="02809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80744" y="5239512"/>
            <a:ext cx="208483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Nueva categoría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675120" y="1417320"/>
            <a:ext cx="2468880" cy="4846320"/>
          </a:xfrm>
          <a:prstGeom prst="roundRect">
            <a:avLst>
              <a:gd name="adj" fmla="val 8148"/>
            </a:avLst>
          </a:prstGeom>
          <a:solidFill>
            <a:srgbClr val="13293D"/>
          </a:solidFill>
          <a:ln/>
        </p:spPr>
      </p:sp>
      <p:sp>
        <p:nvSpPr>
          <p:cNvPr id="29" name="Shape 27"/>
          <p:cNvSpPr/>
          <p:nvPr/>
        </p:nvSpPr>
        <p:spPr>
          <a:xfrm>
            <a:off x="6757416" y="1554480"/>
            <a:ext cx="2304288" cy="4572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589520" y="1499616"/>
            <a:ext cx="640080" cy="9144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/>
        </p:spPr>
      </p:sp>
      <p:sp>
        <p:nvSpPr>
          <p:cNvPr id="31" name="Text 29"/>
          <p:cNvSpPr/>
          <p:nvPr/>
        </p:nvSpPr>
        <p:spPr>
          <a:xfrm>
            <a:off x="6848856" y="158191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9:41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757416" y="1810512"/>
            <a:ext cx="2304288" cy="365760"/>
          </a:xfrm>
          <a:prstGeom prst="rect">
            <a:avLst/>
          </a:prstGeom>
          <a:solidFill>
            <a:srgbClr val="013A40"/>
          </a:solidFill>
          <a:ln/>
        </p:spPr>
      </p:sp>
      <p:sp>
        <p:nvSpPr>
          <p:cNvPr id="33" name="Text 31"/>
          <p:cNvSpPr/>
          <p:nvPr/>
        </p:nvSpPr>
        <p:spPr>
          <a:xfrm>
            <a:off x="6867144" y="181051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· Agosto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867144" y="2313432"/>
            <a:ext cx="2084832" cy="594360"/>
          </a:xfrm>
          <a:prstGeom prst="roundRect">
            <a:avLst>
              <a:gd name="adj" fmla="val 12308"/>
            </a:avLst>
          </a:prstGeom>
          <a:solidFill>
            <a:srgbClr val="F1EFE8"/>
          </a:solidFill>
          <a:ln/>
        </p:spPr>
      </p:sp>
      <p:sp>
        <p:nvSpPr>
          <p:cNvPr id="35" name="Text 33"/>
          <p:cNvSpPr/>
          <p:nvPr/>
        </p:nvSpPr>
        <p:spPr>
          <a:xfrm>
            <a:off x="6958584" y="235915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958584" y="25420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$380.000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991856" y="235915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991856" y="25420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$195.000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67144" y="3044952"/>
            <a:ext cx="20848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gastos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867144" y="3346704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Comida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7671816" y="3374136"/>
            <a:ext cx="1252728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42" name="Shape 40"/>
          <p:cNvSpPr/>
          <p:nvPr/>
        </p:nvSpPr>
        <p:spPr>
          <a:xfrm>
            <a:off x="7671816" y="3374136"/>
            <a:ext cx="450982" cy="12801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3" name="Text 41"/>
          <p:cNvSpPr/>
          <p:nvPr/>
        </p:nvSpPr>
        <p:spPr>
          <a:xfrm>
            <a:off x="8604504" y="33284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67144" y="3639312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671816" y="3666744"/>
            <a:ext cx="1252728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46" name="Shape 44"/>
          <p:cNvSpPr/>
          <p:nvPr/>
        </p:nvSpPr>
        <p:spPr>
          <a:xfrm>
            <a:off x="7671816" y="3666744"/>
            <a:ext cx="288127" cy="128016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7" name="Text 45"/>
          <p:cNvSpPr/>
          <p:nvPr/>
        </p:nvSpPr>
        <p:spPr>
          <a:xfrm>
            <a:off x="8604504" y="362102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867144" y="393192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671816" y="3959352"/>
            <a:ext cx="1252728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50" name="Shape 48"/>
          <p:cNvSpPr/>
          <p:nvPr/>
        </p:nvSpPr>
        <p:spPr>
          <a:xfrm>
            <a:off x="7671816" y="3959352"/>
            <a:ext cx="338237" cy="12801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1" name="Text 49"/>
          <p:cNvSpPr/>
          <p:nvPr/>
        </p:nvSpPr>
        <p:spPr>
          <a:xfrm>
            <a:off x="8604504" y="3913632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867144" y="4224528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Ocio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671816" y="4251960"/>
            <a:ext cx="1252728" cy="128016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54" name="Shape 52"/>
          <p:cNvSpPr/>
          <p:nvPr/>
        </p:nvSpPr>
        <p:spPr>
          <a:xfrm>
            <a:off x="7671816" y="4251960"/>
            <a:ext cx="175382" cy="128016"/>
          </a:xfrm>
          <a:prstGeom prst="rect">
            <a:avLst/>
          </a:prstGeom>
          <a:solidFill>
            <a:srgbClr val="97C459"/>
          </a:solidFill>
          <a:ln/>
        </p:spPr>
      </p:sp>
      <p:sp>
        <p:nvSpPr>
          <p:cNvPr id="55" name="Text 53"/>
          <p:cNvSpPr/>
          <p:nvPr/>
        </p:nvSpPr>
        <p:spPr>
          <a:xfrm>
            <a:off x="8604504" y="42062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867144" y="4608576"/>
            <a:ext cx="20848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ahorro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867144" y="4882896"/>
            <a:ext cx="2084832" cy="146304"/>
          </a:xfrm>
          <a:prstGeom prst="rect">
            <a:avLst/>
          </a:prstGeom>
          <a:solidFill>
            <a:srgbClr val="E6E6E0"/>
          </a:solidFill>
          <a:ln/>
        </p:spPr>
      </p:sp>
      <p:sp>
        <p:nvSpPr>
          <p:cNvPr id="58" name="Shape 56"/>
          <p:cNvSpPr/>
          <p:nvPr/>
        </p:nvSpPr>
        <p:spPr>
          <a:xfrm>
            <a:off x="6867144" y="4882896"/>
            <a:ext cx="1146658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59" name="Text 57"/>
          <p:cNvSpPr/>
          <p:nvPr/>
        </p:nvSpPr>
        <p:spPr>
          <a:xfrm>
            <a:off x="6867144" y="5065776"/>
            <a:ext cx="2084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$110.000 de $200.000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2026-09-02T21:47:04Z</dcterms:created>
  <dcterms:modified xsi:type="dcterms:W3CDTF">2026-09-02T21:47:04Z</dcterms:modified>
</cp:coreProperties>
</file>