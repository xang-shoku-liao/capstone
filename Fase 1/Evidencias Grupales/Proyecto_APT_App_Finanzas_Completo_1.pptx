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663440"/>
            <a:ext cx="3657600" cy="365760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TÍTULO — APT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Móvil de Control de Finanzas Personales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Registra, clasifica y visualiza tus ingresos y gastos para tomar mejores decisiones financieras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27432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Alumno: </a:t>
            </a:r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Tomás García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965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</a:t>
            </a:r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443984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Carrera: </a:t>
            </a:r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— Portafolio de Título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892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Fase 1 · 10 minutos · Trabajo individual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Descripción del proyecto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y por qué es relevante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361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móvil que permite registrar ingresos y gastos, clasificarlos por categoría, definir presupuestos y visualizar reportes, para ayudar a cualquier persona a controlar sus finanzas personales sin depender de planillas complejas.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566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33375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201168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1690" dirty="0"/>
          </a:p>
        </p:txBody>
      </p:sp>
      <p:sp>
        <p:nvSpPr>
          <p:cNvPr id="10" name="Text 8"/>
          <p:cNvSpPr/>
          <p:nvPr/>
        </p:nvSpPr>
        <p:spPr>
          <a:xfrm>
            <a:off x="77724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social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la mitad de las personas no lleva un registro claro de sus gastos, dificultando ahorrar y cumplir metas.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3108960"/>
            <a:ext cx="3566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06440" y="33375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80644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1690" dirty="0"/>
          </a:p>
        </p:txBody>
      </p:sp>
      <p:sp>
        <p:nvSpPr>
          <p:cNvPr id="15" name="Text 13"/>
          <p:cNvSpPr/>
          <p:nvPr/>
        </p:nvSpPr>
        <p:spPr>
          <a:xfrm>
            <a:off x="457200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personal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de una necesidad propia: ya construí una versión manual en Excel — este proyecto la lleva a una app usable por cualquiera.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3108960"/>
            <a:ext cx="3566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0" y="33375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690" dirty="0"/>
          </a:p>
        </p:txBody>
      </p:sp>
      <p:sp>
        <p:nvSpPr>
          <p:cNvPr id="20" name="Text 18"/>
          <p:cNvSpPr/>
          <p:nvPr/>
        </p:nvSpPr>
        <p:spPr>
          <a:xfrm>
            <a:off x="836676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académica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aplicar de forma integral competencias de desarrollo de software, modelado de datos y certificación.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del perfil de egreso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cubre 3 competencias, cumpliendo el mínimo exigido por la Escuela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1965960"/>
            <a:ext cx="640080" cy="64008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201168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de software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móvil utilizando técnicas que sistematicen el proceso de desarrollo y mantenimiento, asegurando el logro de los objetivos.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56616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1965960"/>
            <a:ext cx="640080" cy="64008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11" name="Text 9"/>
          <p:cNvSpPr/>
          <p:nvPr/>
        </p:nvSpPr>
        <p:spPr>
          <a:xfrm>
            <a:off x="580644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</a:t>
            </a:r>
            <a:endParaRPr lang="en-US" sz="182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datos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modelo de datos para soportar el registro de ingresos, gastos y categorías, de acuerdo a un diseño escalable.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56616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0" y="1965960"/>
            <a:ext cx="640080" cy="64008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20" dirty="0"/>
          </a:p>
        </p:txBody>
      </p:sp>
      <p:sp>
        <p:nvSpPr>
          <p:cNvPr id="17" name="Text 15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Certificación y pruebas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 tanto de la app como de los procesos, utilizando buenas prácticas de la industria.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Intereses profesionales y factibilidad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proyecto y por qué es realizable en el semestre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Intereses profesionales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y bases de datos: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interés profesional — este proyecto exige modelar bien los datos financieros.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software: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ahora a un contexto cercano y cotidiano.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personal: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construí mi propio sistema de finanzas en Excel — conozco el dominio de primera mano.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486400" cy="42976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55080" y="214884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 (MVP):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categorías, presupuesto y reportes — sin funciones avanzadas de banca.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semanas, trabajo individual compatible con práctica profesional y trabajo part-time.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gratuito (Flutter, SQLite, GitHub) sin costos de infraestructura.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técnico: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— no depende de datos externos ni APIs de terceros para el MVP.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aplicación móvil que permita a los usuarios registrar, clasificar y visualizar sus ingresos y gastos, para facilitar una mejor gestión de sus finanzas personales.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287121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 modelo de datos que soporte el registro de ingresos, gastos y categorías.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4747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341985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el registro y clasificación de movimientos financieros (predefinidos y personalizables).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023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96849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presupuestos y metas de ahorro con alertas cuando se acerquen al límite.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45171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reportes visuales (gráficos por categoría, por mes) para el usuario.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206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06577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aplicación mediante pruebas funcionales y de usabilidad.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herramientas de trabajo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(Kanban personal) + stack técnico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Ágil — Kanban personal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(dentro del espectro Scrum / Ágil / Tradicional).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Scrum completo: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ser trabajo individual, no aplican roles ni ceremonias de equipo (daily, retro grupal).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elegido: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Kanban con iteraciones quincenales, backlog priorizado y revisión personal de avance cada 2 semanas.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flexibilidad para reordenar tareas según disponibilidad real (práctica + trabajo), manteniendo visibilidad continua del avance a lo largo de las 5 fases del cronograma (17 semanas).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486400" cy="42976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de trabajo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355080" y="21945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/ Framework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03920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+ Flutter (multiplataforma, ideal para desarrollo individual ágil).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72491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03920" y="272491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embebido (paquete sqflite).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5526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versiones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03920" y="325526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 (repositorio individual, commits por tarea).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78561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tareas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03920" y="37856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Projects (tablero Kanban integrado al repo).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431596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mockups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03920" y="431596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/ Draw.io para prototipos de baja fidelidad.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4846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03920" y="48463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 / Visual Studio Code.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 — Cronograma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semanas · 5 fases · Responsable: Tomás García (trabajo individual) · Ver Gantt adjunto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1–5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y Diseño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Alcance y objetivos (03–07 ago)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566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Requisitos func./no func. (10–14 ago)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566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Modelo de datos y mockups (17–21 ago)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566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Metodología y plan (24–26 ago)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566928" y="5239512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Presentación avance (31 ago)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2743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/>
          <p:nvPr/>
        </p:nvSpPr>
        <p:spPr>
          <a:xfrm>
            <a:off x="2852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6–8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Base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52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Entorno Flutter + SQLite (07–09 sep)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2852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Estructura de base de datos (09–11 sep)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2852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Navegación base de la app (14–18 sep)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2852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Validación con docente guía (21–25 sep)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5029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5138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9–13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38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Core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38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Registro y clasificación (28 sep–02 oct)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5138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Gestión de categorías (05–09 oct)</a:t>
            </a:r>
            <a:endParaRPr lang="en-US" sz="870" dirty="0"/>
          </a:p>
        </p:txBody>
      </p:sp>
      <p:sp>
        <p:nvSpPr>
          <p:cNvPr id="30" name="Text 28"/>
          <p:cNvSpPr/>
          <p:nvPr/>
        </p:nvSpPr>
        <p:spPr>
          <a:xfrm>
            <a:off x="5138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Presupuestos y alertas (12–28 oct)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7315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315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/>
          <p:nvPr/>
        </p:nvSpPr>
        <p:spPr>
          <a:xfrm>
            <a:off x="7424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14–15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24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y Pruebas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24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Reportes visuales (02–04 nov)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7424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Pruebas funcionales (04–06 nov)</a:t>
            </a:r>
            <a:endParaRPr lang="en-US" sz="870" dirty="0"/>
          </a:p>
        </p:txBody>
      </p:sp>
      <p:sp>
        <p:nvSpPr>
          <p:cNvPr id="38" name="Text 36"/>
          <p:cNvSpPr/>
          <p:nvPr/>
        </p:nvSpPr>
        <p:spPr>
          <a:xfrm>
            <a:off x="7424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Pruebas de usabilidad (09–11 nov)</a:t>
            </a:r>
            <a:endParaRPr lang="en-US" sz="870" dirty="0"/>
          </a:p>
        </p:txBody>
      </p:sp>
      <p:sp>
        <p:nvSpPr>
          <p:cNvPr id="39" name="Text 37"/>
          <p:cNvSpPr/>
          <p:nvPr/>
        </p:nvSpPr>
        <p:spPr>
          <a:xfrm>
            <a:off x="7424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Corrección de observaciones (11–13 nov)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9601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41" name="Text 39"/>
          <p:cNvSpPr/>
          <p:nvPr/>
        </p:nvSpPr>
        <p:spPr>
          <a:xfrm>
            <a:off x="9601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9601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3" name="Text 41"/>
          <p:cNvSpPr/>
          <p:nvPr/>
        </p:nvSpPr>
        <p:spPr>
          <a:xfrm>
            <a:off x="9710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16–17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710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710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Documentación de cierre (16–18 nov)</a:t>
            </a:r>
            <a:endParaRPr lang="en-US" sz="870" dirty="0"/>
          </a:p>
        </p:txBody>
      </p:sp>
      <p:sp>
        <p:nvSpPr>
          <p:cNvPr id="46" name="Text 44"/>
          <p:cNvSpPr/>
          <p:nvPr/>
        </p:nvSpPr>
        <p:spPr>
          <a:xfrm>
            <a:off x="9710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Manual de usuario (18–20 nov)</a:t>
            </a:r>
            <a:endParaRPr lang="en-US" sz="870" dirty="0"/>
          </a:p>
        </p:txBody>
      </p:sp>
      <p:sp>
        <p:nvSpPr>
          <p:cNvPr id="47" name="Text 45"/>
          <p:cNvSpPr/>
          <p:nvPr/>
        </p:nvSpPr>
        <p:spPr>
          <a:xfrm>
            <a:off x="9710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Presentación final (23–25 nov)</a:t>
            </a:r>
            <a:endParaRPr lang="en-US" sz="870" dirty="0"/>
          </a:p>
        </p:txBody>
      </p:sp>
      <p:sp>
        <p:nvSpPr>
          <p:cNvPr id="48" name="Text 46"/>
          <p:cNvSpPr/>
          <p:nvPr/>
        </p:nvSpPr>
        <p:spPr>
          <a:xfrm>
            <a:off x="9710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Entrega del proyecto (27 nov)</a:t>
            </a:r>
            <a:endParaRPr lang="en-US" sz="870" dirty="0"/>
          </a:p>
        </p:txBody>
      </p:sp>
      <p:sp>
        <p:nvSpPr>
          <p:cNvPr id="49" name="Text 4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esperadas y justificación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325880" y="155448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58191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planificación/diseño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9202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Justifican decisiones de arquitectura, modelo de datos y mockups antes de programar.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1560" dirty="0"/>
          </a:p>
        </p:txBody>
      </p:sp>
      <p:sp>
        <p:nvSpPr>
          <p:cNvPr id="10" name="Shape 8"/>
          <p:cNvSpPr/>
          <p:nvPr/>
        </p:nvSpPr>
        <p:spPr>
          <a:xfrm>
            <a:off x="1325880" y="265176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267919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control y pruebas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30175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Evidencian que la app cumple los requisitos funcionales y de usabilidad definidos.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1325880" y="374904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377647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cierre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proyecto, aprendizajes y estado final entregado.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560" dirty="0"/>
          </a:p>
        </p:txBody>
      </p:sp>
      <p:sp>
        <p:nvSpPr>
          <p:cNvPr id="20" name="Shape 18"/>
          <p:cNvSpPr/>
          <p:nvPr/>
        </p:nvSpPr>
        <p:spPr>
          <a:xfrm>
            <a:off x="1325880" y="484632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48737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52120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+ base de datos + reportes integrados, evidencia central del logro de los objetivos.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RACI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individual: T. García concentra R/A; el docente guía participa como C/I en hitos clave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548640"/>
          </a:xfrm>
          <a:prstGeom prst="rect">
            <a:avLst/>
          </a:prstGeom>
          <a:solidFill>
            <a:srgbClr val="013A40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002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92240" y="1600200"/>
            <a:ext cx="2743200" cy="548640"/>
          </a:xfrm>
          <a:prstGeom prst="rect">
            <a:avLst/>
          </a:prstGeom>
          <a:solidFill>
            <a:srgbClr val="013A40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6002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García (Alumno)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35440" y="1600200"/>
            <a:ext cx="2743200" cy="548640"/>
          </a:xfrm>
          <a:prstGeom prst="rect">
            <a:avLst/>
          </a:prstGeom>
          <a:solidFill>
            <a:srgbClr val="013A40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0" y="16002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Guía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59436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48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proyecto y objetivos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14884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488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35440" y="214884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21488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697480"/>
            <a:ext cx="5943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base de datos y mockups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269748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35440" y="269748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59436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2461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la aplicación (Flutter)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324612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3246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0" y="324612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0" y="3246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794760"/>
            <a:ext cx="5943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947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funcionales y de usabilidad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92240" y="379476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7947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235440" y="379476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37947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343400"/>
            <a:ext cx="59436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434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y cierre del proyecto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92240" y="434340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43434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235440" y="434340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26880" y="43434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892040"/>
            <a:ext cx="5943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8920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92240" y="489204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235440" y="489204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5669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Responsable   A: Aprueba   C: Consultado   I: Informado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preliminar de base de datos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relacional simplificado (SQLite)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289304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265176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3852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id_usuario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223113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2374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2651760" cy="1289304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749040"/>
            <a:ext cx="265176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490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1330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id_categoria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71830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(ingreso/gasto)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06240" y="2377440"/>
            <a:ext cx="3017520" cy="2167128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0" y="2377440"/>
            <a:ext cx="301752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237744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43400" y="276148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id_transaccion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43400" y="305409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 id_usuario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43400" y="334670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 id_categoria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43400" y="3639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43400" y="39319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43400" y="42245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9600" y="1554480"/>
            <a:ext cx="3017520" cy="1581912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0" y="1554480"/>
            <a:ext cx="301752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0" y="155448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66760" y="19385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id_presupuesto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66760" y="223113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 id_categoria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66760" y="252374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monto_limite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366760" y="281635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0" y="2199132"/>
            <a:ext cx="1005840" cy="1261872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4393692"/>
            <a:ext cx="1005840" cy="-932688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23760" y="3461004"/>
            <a:ext cx="1005840" cy="-1357884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18790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91840" y="389077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0" y="31409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esquema preliminar de Fase 1 — sujeto a normalización y ajustes durante el diseño detallado (Fase 2).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preliminares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hacer el sistema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22960" cy="6400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17320" y="1600200"/>
            <a:ext cx="100584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16002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un movimiento (ingreso o gasto) con monto, fecha, categoría y descripción.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822960" cy="6400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50008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417320" y="2350008"/>
            <a:ext cx="100584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2350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editar y eliminar categorías personalizadas de ingresos/gastos.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822960" cy="6400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99816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417320" y="3099816"/>
            <a:ext cx="100584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645920" y="3099816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un presupuesto mensual por categoría.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822960" cy="6400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9624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417320" y="3849624"/>
            <a:ext cx="100584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1645920" y="3849624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alertas cuando el gasto se acerque o supere el presupuesto definido.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99432"/>
            <a:ext cx="822960" cy="6400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59943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417320" y="4599432"/>
            <a:ext cx="100584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645920" y="4599432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reportes visuales (gráficos por categoría y por mes).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822960" cy="6400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3492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RF6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417320" y="5349240"/>
            <a:ext cx="100584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645920" y="5349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respaldar/exportar los datos almacenados localmente.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no funcionales preliminares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debe comportarse el sistema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43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5544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simple y comprensible, usable sin capacitación previa por cualquier persona.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1234440" y="24231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242316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registro y consulta deben responder en menos de 2 segundos.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📴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1234440" y="3291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offline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329184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debe funcionar sin conexión, con datos almacenados localmente (SQLite).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1234440" y="41605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0" y="416052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financieros del usuario se almacenan localmente sin exponerse a terceros.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123444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en dispositivos Android 8.0 o superior.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Mockups tentativos (1/2)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y registro de un movimiento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87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5" name="Shape 3"/>
          <p:cNvSpPr/>
          <p:nvPr/>
        </p:nvSpPr>
        <p:spPr>
          <a:xfrm>
            <a:off x="12710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7" name="Text 5"/>
          <p:cNvSpPr/>
          <p:nvPr/>
        </p:nvSpPr>
        <p:spPr>
          <a:xfrm>
            <a:off x="13624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2710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13807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finanzas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80744" y="2286000"/>
            <a:ext cx="2084832" cy="685800"/>
          </a:xfrm>
          <a:prstGeom prst="roundRect">
            <a:avLst>
              <a:gd name="adj" fmla="val 10667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1499616" y="2340864"/>
            <a:ext cx="18470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disponible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499616" y="2560320"/>
            <a:ext cx="1847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$450.000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0744" y="3090672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por categoría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380744" y="336499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Comida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231136" y="3392424"/>
            <a:ext cx="1207008" cy="118872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2231136" y="3392424"/>
            <a:ext cx="844906" cy="1188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380744" y="3621024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231136" y="3648456"/>
            <a:ext cx="1207008" cy="118872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31136" y="3648456"/>
            <a:ext cx="543154" cy="1188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1380744" y="387705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Ocio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231136" y="3904488"/>
            <a:ext cx="1207008" cy="118872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22" name="Shape 20"/>
          <p:cNvSpPr/>
          <p:nvPr/>
        </p:nvSpPr>
        <p:spPr>
          <a:xfrm>
            <a:off x="2231136" y="3904488"/>
            <a:ext cx="362102" cy="1188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1380744" y="4178808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movimientos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380744" y="4425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Supermercado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340864" y="44256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-$18.500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80744" y="46634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Sueldo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40864" y="466344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+$380.000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380744" y="4901184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Bencina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40864" y="49011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-$12.000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31" name="Shape 29"/>
          <p:cNvSpPr/>
          <p:nvPr/>
        </p:nvSpPr>
        <p:spPr>
          <a:xfrm>
            <a:off x="67574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75895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574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35" name="Text 33"/>
          <p:cNvSpPr/>
          <p:nvPr/>
        </p:nvSpPr>
        <p:spPr>
          <a:xfrm>
            <a:off x="68671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movimiento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867144" y="2313432"/>
            <a:ext cx="1014984" cy="29260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867144" y="2313432"/>
            <a:ext cx="1014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936992" y="2313432"/>
            <a:ext cx="1014984" cy="292608"/>
          </a:xfrm>
          <a:prstGeom prst="roundRect">
            <a:avLst>
              <a:gd name="adj" fmla="val 50000"/>
            </a:avLst>
          </a:prstGeom>
          <a:solidFill>
            <a:srgbClr val="E6E6E0"/>
          </a:solidFill>
          <a:ln/>
        </p:spPr>
      </p:sp>
      <p:sp>
        <p:nvSpPr>
          <p:cNvPr id="39" name="Text 37"/>
          <p:cNvSpPr/>
          <p:nvPr/>
        </p:nvSpPr>
        <p:spPr>
          <a:xfrm>
            <a:off x="7936992" y="2313432"/>
            <a:ext cx="1014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67144" y="2743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67144" y="2926080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$ 12.000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67144" y="3291840"/>
            <a:ext cx="2084832" cy="0"/>
          </a:xfrm>
          <a:prstGeom prst="line">
            <a:avLst/>
          </a:prstGeom>
          <a:noFill/>
          <a:ln w="12700">
            <a:solidFill>
              <a:srgbClr val="D8D8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67144" y="3456432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867144" y="3639312"/>
            <a:ext cx="2084832" cy="310896"/>
          </a:xfrm>
          <a:prstGeom prst="roundRect">
            <a:avLst>
              <a:gd name="adj" fmla="val 14706"/>
            </a:avLst>
          </a:prstGeom>
          <a:solidFill>
            <a:srgbClr val="F1EFE8"/>
          </a:solidFill>
          <a:ln/>
        </p:spPr>
      </p:sp>
      <p:sp>
        <p:nvSpPr>
          <p:cNvPr id="45" name="Text 43"/>
          <p:cNvSpPr/>
          <p:nvPr/>
        </p:nvSpPr>
        <p:spPr>
          <a:xfrm>
            <a:off x="6958584" y="3639312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67144" y="4023360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867144" y="4206240"/>
            <a:ext cx="2084832" cy="310896"/>
          </a:xfrm>
          <a:prstGeom prst="roundRect">
            <a:avLst>
              <a:gd name="adj" fmla="val 14706"/>
            </a:avLst>
          </a:prstGeom>
          <a:solidFill>
            <a:srgbClr val="F1EFE8"/>
          </a:solidFill>
          <a:ln/>
        </p:spPr>
      </p:sp>
      <p:sp>
        <p:nvSpPr>
          <p:cNvPr id="48" name="Text 46"/>
          <p:cNvSpPr/>
          <p:nvPr/>
        </p:nvSpPr>
        <p:spPr>
          <a:xfrm>
            <a:off x="6958584" y="4206240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26/08/2026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867144" y="4590288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67144" y="4773168"/>
            <a:ext cx="2084832" cy="310896"/>
          </a:xfrm>
          <a:prstGeom prst="roundRect">
            <a:avLst>
              <a:gd name="adj" fmla="val 14706"/>
            </a:avLst>
          </a:prstGeom>
          <a:solidFill>
            <a:srgbClr val="F1EFE8"/>
          </a:solidFill>
          <a:ln/>
        </p:spPr>
      </p:sp>
      <p:sp>
        <p:nvSpPr>
          <p:cNvPr id="51" name="Text 49"/>
          <p:cNvSpPr/>
          <p:nvPr/>
        </p:nvSpPr>
        <p:spPr>
          <a:xfrm>
            <a:off x="6958584" y="4773168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Bencina auto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67144" y="5294376"/>
            <a:ext cx="2084832" cy="347472"/>
          </a:xfrm>
          <a:prstGeom prst="roundRect">
            <a:avLst>
              <a:gd name="adj" fmla="val 21053"/>
            </a:avLst>
          </a:prstGeom>
          <a:solidFill>
            <a:srgbClr val="00A896"/>
          </a:solidFill>
          <a:ln/>
        </p:spPr>
      </p:sp>
      <p:sp>
        <p:nvSpPr>
          <p:cNvPr id="53" name="Text 51"/>
          <p:cNvSpPr/>
          <p:nvPr/>
        </p:nvSpPr>
        <p:spPr>
          <a:xfrm>
            <a:off x="6867144" y="5294376"/>
            <a:ext cx="20848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Mockups tentativos (2/2)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 por categoría y reportes mensuales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87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5" name="Shape 3"/>
          <p:cNvSpPr/>
          <p:nvPr/>
        </p:nvSpPr>
        <p:spPr>
          <a:xfrm>
            <a:off x="12710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7" name="Text 5"/>
          <p:cNvSpPr/>
          <p:nvPr/>
        </p:nvSpPr>
        <p:spPr>
          <a:xfrm>
            <a:off x="13624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2710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13807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380744" y="2340864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Comida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80744" y="2560320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1380744" y="2560320"/>
            <a:ext cx="1459382" cy="1280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1380744" y="2724912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$70.000 / $100.000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380744" y="3054096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80744" y="3273552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1380744" y="3273552"/>
            <a:ext cx="1563624" cy="12801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380744" y="3438144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$45.000 / $60.000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380744" y="3767328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80744" y="3986784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20" name="Shape 18"/>
          <p:cNvSpPr/>
          <p:nvPr/>
        </p:nvSpPr>
        <p:spPr>
          <a:xfrm>
            <a:off x="1380744" y="3986784"/>
            <a:ext cx="1459382" cy="12801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1380744" y="4151376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$28.000 / $40.000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380744" y="4480560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380744" y="4700016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24" name="Shape 22"/>
          <p:cNvSpPr/>
          <p:nvPr/>
        </p:nvSpPr>
        <p:spPr>
          <a:xfrm>
            <a:off x="1380744" y="4700016"/>
            <a:ext cx="1355141" cy="1280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1380744" y="4864608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$52.000 / $80.000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380744" y="5239512"/>
            <a:ext cx="2084832" cy="310896"/>
          </a:xfrm>
          <a:prstGeom prst="roundRect">
            <a:avLst>
              <a:gd name="adj" fmla="val 23529"/>
            </a:avLst>
          </a:prstGeom>
          <a:solidFill>
            <a:srgbClr val="E1F5EE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80744" y="5239512"/>
            <a:ext cx="20848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Nueva categoría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751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5895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31" name="Text 29"/>
          <p:cNvSpPr/>
          <p:nvPr/>
        </p:nvSpPr>
        <p:spPr>
          <a:xfrm>
            <a:off x="68488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574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33" name="Text 31"/>
          <p:cNvSpPr/>
          <p:nvPr/>
        </p:nvSpPr>
        <p:spPr>
          <a:xfrm>
            <a:off x="68671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· Agosto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867144" y="2313432"/>
            <a:ext cx="2084832" cy="594360"/>
          </a:xfrm>
          <a:prstGeom prst="roundRect">
            <a:avLst>
              <a:gd name="adj" fmla="val 12308"/>
            </a:avLst>
          </a:prstGeom>
          <a:solidFill>
            <a:srgbClr val="F1EFE8"/>
          </a:solidFill>
          <a:ln/>
        </p:spPr>
      </p:sp>
      <p:sp>
        <p:nvSpPr>
          <p:cNvPr id="35" name="Text 33"/>
          <p:cNvSpPr/>
          <p:nvPr/>
        </p:nvSpPr>
        <p:spPr>
          <a:xfrm>
            <a:off x="6958584" y="235915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958584" y="25420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$380.000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91856" y="235915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991856" y="25420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$195.000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67144" y="3044952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gastos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867144" y="3346704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Comida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671816" y="3374136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42" name="Shape 40"/>
          <p:cNvSpPr/>
          <p:nvPr/>
        </p:nvSpPr>
        <p:spPr>
          <a:xfrm>
            <a:off x="7671816" y="3374136"/>
            <a:ext cx="450982" cy="1280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8604504" y="33284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67144" y="363931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671816" y="3666744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46" name="Shape 44"/>
          <p:cNvSpPr/>
          <p:nvPr/>
        </p:nvSpPr>
        <p:spPr>
          <a:xfrm>
            <a:off x="7671816" y="3666744"/>
            <a:ext cx="288127" cy="12801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7" name="Text 45"/>
          <p:cNvSpPr/>
          <p:nvPr/>
        </p:nvSpPr>
        <p:spPr>
          <a:xfrm>
            <a:off x="8604504" y="362102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867144" y="393192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671816" y="3959352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50" name="Shape 48"/>
          <p:cNvSpPr/>
          <p:nvPr/>
        </p:nvSpPr>
        <p:spPr>
          <a:xfrm>
            <a:off x="7671816" y="3959352"/>
            <a:ext cx="338237" cy="12801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1" name="Text 49"/>
          <p:cNvSpPr/>
          <p:nvPr/>
        </p:nvSpPr>
        <p:spPr>
          <a:xfrm>
            <a:off x="8604504" y="39136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867144" y="422452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671816" y="4251960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54" name="Shape 52"/>
          <p:cNvSpPr/>
          <p:nvPr/>
        </p:nvSpPr>
        <p:spPr>
          <a:xfrm>
            <a:off x="7671816" y="4251960"/>
            <a:ext cx="175382" cy="128016"/>
          </a:xfrm>
          <a:prstGeom prst="rect">
            <a:avLst/>
          </a:prstGeom>
          <a:solidFill>
            <a:srgbClr val="97C459"/>
          </a:solidFill>
          <a:ln/>
        </p:spPr>
      </p:sp>
      <p:sp>
        <p:nvSpPr>
          <p:cNvPr id="55" name="Text 53"/>
          <p:cNvSpPr/>
          <p:nvPr/>
        </p:nvSpPr>
        <p:spPr>
          <a:xfrm>
            <a:off x="8604504" y="42062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867144" y="4608576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ahorro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67144" y="4882896"/>
            <a:ext cx="2084832" cy="146304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58" name="Shape 56"/>
          <p:cNvSpPr/>
          <p:nvPr/>
        </p:nvSpPr>
        <p:spPr>
          <a:xfrm>
            <a:off x="6867144" y="4882896"/>
            <a:ext cx="1146658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59" name="Text 57"/>
          <p:cNvSpPr/>
          <p:nvPr/>
        </p:nvSpPr>
        <p:spPr>
          <a:xfrm>
            <a:off x="6867144" y="5065776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$110.000 de $200.000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2026-08-28T20:20:38Z</dcterms:created>
  <dcterms:modified xsi:type="dcterms:W3CDTF">2026-08-28T20:20:38Z</dcterms:modified>
</cp:coreProperties>
</file>